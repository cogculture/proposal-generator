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71" r:id="rId7"/>
    <p:sldId id="274" r:id="rId8"/>
    <p:sldId id="275" r:id="rId9"/>
    <p:sldId id="276" r:id="rId10"/>
    <p:sldId id="277" r:id="rId11"/>
    <p:sldId id="278" r:id="rId12"/>
    <p:sldId id="287" r:id="rId13"/>
    <p:sldId id="279" r:id="rId14"/>
    <p:sldId id="280" r:id="rId15"/>
    <p:sldId id="281" r:id="rId16"/>
    <p:sldId id="282" r:id="rId17"/>
    <p:sldId id="283" r:id="rId18"/>
    <p:sldId id="288" r:id="rId19"/>
    <p:sldId id="284" r:id="rId20"/>
    <p:sldId id="289" r:id="rId21"/>
    <p:sldId id="270" r:id="rId22"/>
  </p:sldIdLst>
  <p:sldSz cx="7569200" cy="10693400"/>
  <p:notesSz cx="75692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740"/>
    <a:srgbClr val="FF4A71"/>
    <a:srgbClr val="FF48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10045-F82E-6ADB-6D6A-379A019EFAAC}" v="487" dt="2026-05-04T16:47:50.34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87"/>
  </p:normalViewPr>
  <p:slideViewPr>
    <p:cSldViewPr snapToGrid="0">
      <p:cViewPr varScale="1">
        <p:scale>
          <a:sx n="67" d="100"/>
          <a:sy n="67" d="100"/>
        </p:scale>
        <p:origin x="1998" y="5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690" y="3314954"/>
            <a:ext cx="6433820"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5380" y="5988304"/>
            <a:ext cx="5298440"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460" y="2459482"/>
            <a:ext cx="329260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8138" y="2459482"/>
            <a:ext cx="3292602"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01775" y="382645"/>
            <a:ext cx="6512741" cy="9974646"/>
          </a:xfrm>
          <a:prstGeom prst="rect">
            <a:avLst/>
          </a:prstGeom>
        </p:spPr>
      </p:pic>
      <p:sp>
        <p:nvSpPr>
          <p:cNvPr id="2" name="Holder 2"/>
          <p:cNvSpPr>
            <a:spLocks noGrp="1"/>
          </p:cNvSpPr>
          <p:nvPr>
            <p:ph type="title"/>
          </p:nvPr>
        </p:nvSpPr>
        <p:spPr>
          <a:xfrm>
            <a:off x="378460" y="427736"/>
            <a:ext cx="6812280"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460" y="2459482"/>
            <a:ext cx="6812280"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3528" y="9944862"/>
            <a:ext cx="2422144"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460" y="9944862"/>
            <a:ext cx="1740916"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5/5/2026</a:t>
            </a:fld>
            <a:endParaRPr lang="en-US"/>
          </a:p>
        </p:txBody>
      </p:sp>
      <p:sp>
        <p:nvSpPr>
          <p:cNvPr id="6" name="Holder 6"/>
          <p:cNvSpPr>
            <a:spLocks noGrp="1"/>
          </p:cNvSpPr>
          <p:nvPr>
            <p:ph type="sldNum" sz="quarter" idx="7"/>
          </p:nvPr>
        </p:nvSpPr>
        <p:spPr>
          <a:xfrm>
            <a:off x="5449824" y="9944862"/>
            <a:ext cx="1740916"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7569200" cy="10693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1700" y="2135187"/>
            <a:ext cx="5753100" cy="1207770"/>
          </a:xfrm>
          <a:prstGeom prst="rect">
            <a:avLst/>
          </a:prstGeom>
        </p:spPr>
        <p:txBody>
          <a:bodyPr vert="horz" wrap="square" lIns="0" tIns="12700" rIns="0" bIns="0" rtlCol="0">
            <a:spAutoFit/>
          </a:bodyPr>
          <a:lstStyle/>
          <a:p>
            <a:pPr marL="12700" algn="just">
              <a:lnSpc>
                <a:spcPct val="100000"/>
              </a:lnSpc>
              <a:spcBef>
                <a:spcPts val="100"/>
              </a:spcBef>
            </a:pPr>
            <a:r>
              <a:rPr sz="1500" spc="-55" dirty="0">
                <a:latin typeface="Helvetica Neue" panose="02000503000000020004" pitchFamily="2" charset="0"/>
                <a:ea typeface="Helvetica Neue" panose="02000503000000020004" pitchFamily="2" charset="0"/>
                <a:cs typeface="Helvetica Neue" panose="02000503000000020004" pitchFamily="2" charset="0"/>
              </a:rPr>
              <a:t>Client</a:t>
            </a:r>
            <a:r>
              <a:rPr sz="1500" spc="-150" dirty="0">
                <a:latin typeface="Helvetica Neue" panose="02000503000000020004" pitchFamily="2" charset="0"/>
                <a:ea typeface="Helvetica Neue" panose="02000503000000020004" pitchFamily="2" charset="0"/>
                <a:cs typeface="Helvetica Neue" panose="02000503000000020004" pitchFamily="2" charset="0"/>
              </a:rPr>
              <a:t> </a:t>
            </a:r>
            <a:r>
              <a:rPr sz="1500" dirty="0">
                <a:latin typeface="Helvetica Neue" panose="02000503000000020004" pitchFamily="2" charset="0"/>
                <a:ea typeface="Helvetica Neue" panose="02000503000000020004" pitchFamily="2" charset="0"/>
                <a:cs typeface="Helvetica Neue" panose="02000503000000020004" pitchFamily="2" charset="0"/>
              </a:rPr>
              <a:t>|</a:t>
            </a:r>
            <a:r>
              <a:rPr sz="1500" spc="-150" dirty="0">
                <a:latin typeface="Helvetica Neue" panose="02000503000000020004" pitchFamily="2" charset="0"/>
                <a:ea typeface="Helvetica Neue" panose="02000503000000020004" pitchFamily="2" charset="0"/>
                <a:cs typeface="Helvetica Neue" panose="02000503000000020004" pitchFamily="2" charset="0"/>
              </a:rPr>
              <a:t> </a:t>
            </a:r>
            <a:r>
              <a:rPr sz="1500" spc="-85" dirty="0" err="1">
                <a:latin typeface="Helvetica Neue" panose="02000503000000020004" pitchFamily="2" charset="0"/>
                <a:ea typeface="Helvetica Neue" panose="02000503000000020004" pitchFamily="2" charset="0"/>
                <a:cs typeface="Helvetica Neue" panose="02000503000000020004" pitchFamily="2" charset="0"/>
              </a:rPr>
              <a:t>Intex</a:t>
            </a:r>
            <a:r>
              <a:rPr sz="1500" spc="-150" dirty="0">
                <a:latin typeface="Helvetica Neue" panose="02000503000000020004" pitchFamily="2" charset="0"/>
                <a:ea typeface="Helvetica Neue" panose="02000503000000020004" pitchFamily="2" charset="0"/>
                <a:cs typeface="Helvetica Neue" panose="02000503000000020004" pitchFamily="2" charset="0"/>
              </a:rPr>
              <a:t> </a:t>
            </a:r>
            <a:r>
              <a:rPr sz="1500" spc="-10" dirty="0">
                <a:latin typeface="Helvetica Neue" panose="02000503000000020004" pitchFamily="2" charset="0"/>
                <a:ea typeface="Helvetica Neue" panose="02000503000000020004" pitchFamily="2" charset="0"/>
                <a:cs typeface="Helvetica Neue" panose="02000503000000020004" pitchFamily="2" charset="0"/>
              </a:rPr>
              <a:t>Technologies</a:t>
            </a:r>
            <a:endParaRPr sz="1500" dirty="0">
              <a:latin typeface="Helvetica Neue" panose="02000503000000020004" pitchFamily="2" charset="0"/>
              <a:ea typeface="Helvetica Neue" panose="02000503000000020004" pitchFamily="2" charset="0"/>
              <a:cs typeface="Helvetica Neue" panose="02000503000000020004" pitchFamily="2" charset="0"/>
            </a:endParaRPr>
          </a:p>
          <a:p>
            <a:pPr marL="12700" marR="5080" algn="just">
              <a:lnSpc>
                <a:spcPct val="125000"/>
              </a:lnSpc>
              <a:spcBef>
                <a:spcPts val="2105"/>
              </a:spcBef>
            </a:pPr>
            <a:r>
              <a:rPr sz="1200" dirty="0">
                <a:latin typeface="Helvetica Neue" panose="02000503000000020004" pitchFamily="2" charset="0"/>
                <a:ea typeface="Helvetica Neue" panose="02000503000000020004" pitchFamily="2" charset="0"/>
                <a:cs typeface="Helvetica Neue" panose="02000503000000020004" pitchFamily="2" charset="0"/>
              </a:rPr>
              <a:t>Post</a:t>
            </a:r>
            <a:r>
              <a:rPr sz="1200" spc="32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our</a:t>
            </a:r>
            <a:r>
              <a:rPr sz="1200" spc="32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discussions,</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here's</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spc="145" dirty="0">
                <a:latin typeface="Helvetica Neue" panose="02000503000000020004" pitchFamily="2" charset="0"/>
                <a:ea typeface="Helvetica Neue" panose="02000503000000020004" pitchFamily="2" charset="0"/>
                <a:cs typeface="Helvetica Neue" panose="02000503000000020004" pitchFamily="2" charset="0"/>
              </a:rPr>
              <a:t>a</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'Tailor</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Made'</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proposal</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in</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detail.</a:t>
            </a:r>
            <a:r>
              <a:rPr sz="1200" spc="24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Please</a:t>
            </a:r>
            <a:r>
              <a:rPr sz="1200" spc="250" dirty="0">
                <a:latin typeface="Helvetica Neue" panose="02000503000000020004" pitchFamily="2" charset="0"/>
                <a:ea typeface="Helvetica Neue" panose="02000503000000020004" pitchFamily="2" charset="0"/>
                <a:cs typeface="Helvetica Neue" panose="02000503000000020004" pitchFamily="2" charset="0"/>
              </a:rPr>
              <a:t> </a:t>
            </a:r>
            <a:r>
              <a:rPr sz="1200" spc="-25" dirty="0">
                <a:latin typeface="Helvetica Neue" panose="02000503000000020004" pitchFamily="2" charset="0"/>
                <a:ea typeface="Helvetica Neue" panose="02000503000000020004" pitchFamily="2" charset="0"/>
                <a:cs typeface="Helvetica Neue" panose="02000503000000020004" pitchFamily="2" charset="0"/>
              </a:rPr>
              <a:t>go </a:t>
            </a:r>
            <a:r>
              <a:rPr sz="1200" dirty="0">
                <a:latin typeface="Helvetica Neue" panose="02000503000000020004" pitchFamily="2" charset="0"/>
                <a:ea typeface="Helvetica Neue" panose="02000503000000020004" pitchFamily="2" charset="0"/>
                <a:cs typeface="Helvetica Neue" panose="02000503000000020004" pitchFamily="2" charset="0"/>
              </a:rPr>
              <a:t>through</a:t>
            </a:r>
            <a:r>
              <a:rPr sz="1200" spc="3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it</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carefully.</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95" dirty="0">
                <a:latin typeface="Helvetica Neue" panose="02000503000000020004" pitchFamily="2" charset="0"/>
                <a:ea typeface="Helvetica Neue" panose="02000503000000020004" pitchFamily="2" charset="0"/>
                <a:cs typeface="Helvetica Neue" panose="02000503000000020004" pitchFamily="2" charset="0"/>
              </a:rPr>
              <a:t>We</a:t>
            </a:r>
            <a:r>
              <a:rPr sz="1200" spc="-35" dirty="0">
                <a:latin typeface="Helvetica Neue" panose="02000503000000020004" pitchFamily="2" charset="0"/>
                <a:ea typeface="Helvetica Neue" panose="02000503000000020004" pitchFamily="2" charset="0"/>
                <a:cs typeface="Helvetica Neue" panose="02000503000000020004" pitchFamily="2" charset="0"/>
              </a:rPr>
              <a:t> </a:t>
            </a:r>
            <a:r>
              <a:rPr sz="1200" spc="-55" dirty="0">
                <a:latin typeface="Helvetica Neue" panose="02000503000000020004" pitchFamily="2" charset="0"/>
                <a:ea typeface="Helvetica Neue" panose="02000503000000020004" pitchFamily="2" charset="0"/>
                <a:cs typeface="Helvetica Neue" panose="02000503000000020004" pitchFamily="2" charset="0"/>
              </a:rPr>
              <a:t>will</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65" dirty="0">
                <a:latin typeface="Helvetica Neue" panose="02000503000000020004" pitchFamily="2" charset="0"/>
                <a:ea typeface="Helvetica Neue" panose="02000503000000020004" pitchFamily="2" charset="0"/>
                <a:cs typeface="Helvetica Neue" panose="02000503000000020004" pitchFamily="2" charset="0"/>
              </a:rPr>
              <a:t>be</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55" dirty="0">
                <a:latin typeface="Helvetica Neue" panose="02000503000000020004" pitchFamily="2" charset="0"/>
                <a:ea typeface="Helvetica Neue" panose="02000503000000020004" pitchFamily="2" charset="0"/>
                <a:cs typeface="Helvetica Neue" panose="02000503000000020004" pitchFamily="2" charset="0"/>
              </a:rPr>
              <a:t>happy</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to</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10" dirty="0">
                <a:latin typeface="Helvetica Neue" panose="02000503000000020004" pitchFamily="2" charset="0"/>
                <a:ea typeface="Helvetica Neue" panose="02000503000000020004" pitchFamily="2" charset="0"/>
                <a:cs typeface="Helvetica Neue" panose="02000503000000020004" pitchFamily="2" charset="0"/>
              </a:rPr>
              <a:t>explain</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to</a:t>
            </a:r>
            <a:r>
              <a:rPr sz="1200" spc="-35"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you</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85" dirty="0">
                <a:latin typeface="Helvetica Neue" panose="02000503000000020004" pitchFamily="2" charset="0"/>
                <a:ea typeface="Helvetica Neue" panose="02000503000000020004" pitchFamily="2" charset="0"/>
                <a:cs typeface="Helvetica Neue" panose="02000503000000020004" pitchFamily="2" charset="0"/>
              </a:rPr>
              <a:t>each</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70" dirty="0">
                <a:latin typeface="Helvetica Neue" panose="02000503000000020004" pitchFamily="2" charset="0"/>
                <a:ea typeface="Helvetica Neue" panose="02000503000000020004" pitchFamily="2" charset="0"/>
                <a:cs typeface="Helvetica Neue" panose="02000503000000020004" pitchFamily="2" charset="0"/>
              </a:rPr>
              <a:t>and</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every</a:t>
            </a:r>
            <a:r>
              <a:rPr sz="1200" spc="-40" dirty="0">
                <a:latin typeface="Helvetica Neue" panose="02000503000000020004" pitchFamily="2" charset="0"/>
                <a:ea typeface="Helvetica Neue" panose="02000503000000020004" pitchFamily="2" charset="0"/>
                <a:cs typeface="Helvetica Neue" panose="02000503000000020004" pitchFamily="2" charset="0"/>
              </a:rPr>
              <a:t> </a:t>
            </a:r>
            <a:r>
              <a:rPr sz="1200" spc="-10" dirty="0">
                <a:latin typeface="Helvetica Neue" panose="02000503000000020004" pitchFamily="2" charset="0"/>
                <a:ea typeface="Helvetica Neue" panose="02000503000000020004" pitchFamily="2" charset="0"/>
                <a:cs typeface="Helvetica Neue" panose="02000503000000020004" pitchFamily="2" charset="0"/>
              </a:rPr>
              <a:t>point </a:t>
            </a:r>
            <a:r>
              <a:rPr sz="1200" dirty="0">
                <a:latin typeface="Helvetica Neue" panose="02000503000000020004" pitchFamily="2" charset="0"/>
                <a:ea typeface="Helvetica Neue" panose="02000503000000020004" pitchFamily="2" charset="0"/>
                <a:cs typeface="Helvetica Neue" panose="02000503000000020004" pitchFamily="2" charset="0"/>
              </a:rPr>
              <a:t>that</a:t>
            </a:r>
            <a:r>
              <a:rPr sz="1200" spc="-15" dirty="0">
                <a:latin typeface="Helvetica Neue" panose="02000503000000020004" pitchFamily="2" charset="0"/>
                <a:ea typeface="Helvetica Neue" panose="02000503000000020004" pitchFamily="2" charset="0"/>
                <a:cs typeface="Helvetica Neue" panose="02000503000000020004" pitchFamily="2" charset="0"/>
              </a:rPr>
              <a:t> </a:t>
            </a:r>
            <a:r>
              <a:rPr sz="1200" spc="-50" dirty="0">
                <a:latin typeface="Helvetica Neue" panose="02000503000000020004" pitchFamily="2" charset="0"/>
                <a:ea typeface="Helvetica Neue" panose="02000503000000020004" pitchFamily="2" charset="0"/>
                <a:cs typeface="Helvetica Neue" panose="02000503000000020004" pitchFamily="2" charset="0"/>
              </a:rPr>
              <a:t>is</a:t>
            </a:r>
            <a:r>
              <a:rPr sz="1200" spc="-10" dirty="0">
                <a:latin typeface="Helvetica Neue" panose="02000503000000020004" pitchFamily="2" charset="0"/>
                <a:ea typeface="Helvetica Neue" panose="02000503000000020004" pitchFamily="2" charset="0"/>
                <a:cs typeface="Helvetica Neue" panose="02000503000000020004" pitchFamily="2" charset="0"/>
              </a:rPr>
              <a:t> written here. </a:t>
            </a:r>
            <a:r>
              <a:rPr sz="1200" dirty="0">
                <a:latin typeface="Helvetica Neue" panose="02000503000000020004" pitchFamily="2" charset="0"/>
                <a:ea typeface="Helvetica Neue" panose="02000503000000020004" pitchFamily="2" charset="0"/>
                <a:cs typeface="Helvetica Neue" panose="02000503000000020004" pitchFamily="2" charset="0"/>
              </a:rPr>
              <a:t>Happy</a:t>
            </a:r>
            <a:r>
              <a:rPr sz="1200" spc="-10" dirty="0">
                <a:latin typeface="Helvetica Neue" panose="02000503000000020004" pitchFamily="2" charset="0"/>
                <a:ea typeface="Helvetica Neue" panose="02000503000000020004" pitchFamily="2" charset="0"/>
                <a:cs typeface="Helvetica Neue" panose="02000503000000020004" pitchFamily="2" charset="0"/>
              </a:rPr>
              <a:t> </a:t>
            </a:r>
            <a:r>
              <a:rPr sz="1200" dirty="0">
                <a:latin typeface="Helvetica Neue" panose="02000503000000020004" pitchFamily="2" charset="0"/>
                <a:ea typeface="Helvetica Neue" panose="02000503000000020004" pitchFamily="2" charset="0"/>
                <a:cs typeface="Helvetica Neue" panose="02000503000000020004" pitchFamily="2" charset="0"/>
              </a:rPr>
              <a:t>to</a:t>
            </a:r>
            <a:r>
              <a:rPr sz="1200" spc="-15" dirty="0">
                <a:latin typeface="Helvetica Neue" panose="02000503000000020004" pitchFamily="2" charset="0"/>
                <a:ea typeface="Helvetica Neue" panose="02000503000000020004" pitchFamily="2" charset="0"/>
                <a:cs typeface="Helvetica Neue" panose="02000503000000020004" pitchFamily="2" charset="0"/>
              </a:rPr>
              <a:t> </a:t>
            </a:r>
            <a:r>
              <a:rPr sz="1200" spc="65" dirty="0">
                <a:latin typeface="Helvetica Neue" panose="02000503000000020004" pitchFamily="2" charset="0"/>
                <a:ea typeface="Helvetica Neue" panose="02000503000000020004" pitchFamily="2" charset="0"/>
                <a:cs typeface="Helvetica Neue" panose="02000503000000020004" pitchFamily="2" charset="0"/>
              </a:rPr>
              <a:t>be</a:t>
            </a:r>
            <a:r>
              <a:rPr sz="1200" spc="-10" dirty="0">
                <a:latin typeface="Helvetica Neue" panose="02000503000000020004" pitchFamily="2" charset="0"/>
                <a:ea typeface="Helvetica Neue" panose="02000503000000020004" pitchFamily="2" charset="0"/>
                <a:cs typeface="Helvetica Neue" panose="02000503000000020004" pitchFamily="2" charset="0"/>
              </a:rPr>
              <a:t> </a:t>
            </a:r>
            <a:r>
              <a:rPr sz="1200" spc="-20" dirty="0">
                <a:latin typeface="Helvetica Neue" panose="02000503000000020004" pitchFamily="2" charset="0"/>
                <a:ea typeface="Helvetica Neue" panose="02000503000000020004" pitchFamily="2" charset="0"/>
                <a:cs typeface="Helvetica Neue" panose="02000503000000020004" pitchFamily="2" charset="0"/>
              </a:rPr>
              <a:t>working</a:t>
            </a:r>
            <a:r>
              <a:rPr sz="1200" spc="-10" dirty="0">
                <a:latin typeface="Helvetica Neue" panose="02000503000000020004" pitchFamily="2" charset="0"/>
                <a:ea typeface="Helvetica Neue" panose="02000503000000020004" pitchFamily="2" charset="0"/>
                <a:cs typeface="Helvetica Neue" panose="02000503000000020004" pitchFamily="2" charset="0"/>
              </a:rPr>
              <a:t> with </a:t>
            </a:r>
            <a:r>
              <a:rPr sz="1200" dirty="0">
                <a:latin typeface="Helvetica Neue" panose="02000503000000020004" pitchFamily="2" charset="0"/>
                <a:ea typeface="Helvetica Neue" panose="02000503000000020004" pitchFamily="2" charset="0"/>
                <a:cs typeface="Helvetica Neue" panose="02000503000000020004" pitchFamily="2" charset="0"/>
              </a:rPr>
              <a:t>you</a:t>
            </a:r>
            <a:r>
              <a:rPr sz="1200" spc="-10" dirty="0">
                <a:latin typeface="Helvetica Neue" panose="02000503000000020004" pitchFamily="2" charset="0"/>
                <a:ea typeface="Helvetica Neue" panose="02000503000000020004" pitchFamily="2" charset="0"/>
                <a:cs typeface="Helvetica Neue" panose="02000503000000020004" pitchFamily="2" charset="0"/>
              </a:rPr>
              <a:t> soon.</a:t>
            </a:r>
            <a:endParaRPr sz="12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 name="object 4"/>
          <p:cNvPicPr/>
          <p:nvPr/>
        </p:nvPicPr>
        <p:blipFill>
          <a:blip r:embed="rId2" cstate="print"/>
          <a:stretch>
            <a:fillRect/>
          </a:stretch>
        </p:blipFill>
        <p:spPr>
          <a:xfrm>
            <a:off x="1771650" y="3826440"/>
            <a:ext cx="209550" cy="209550"/>
          </a:xfrm>
          <a:prstGeom prst="rect">
            <a:avLst/>
          </a:prstGeom>
        </p:spPr>
      </p:pic>
      <p:sp>
        <p:nvSpPr>
          <p:cNvPr id="5" name="Google Shape;21;p6">
            <a:extLst>
              <a:ext uri="{FF2B5EF4-FFF2-40B4-BE49-F238E27FC236}">
                <a16:creationId xmlns:a16="http://schemas.microsoft.com/office/drawing/2014/main" id="{F51952A6-2915-24DF-250E-16D064C07E61}"/>
              </a:ext>
            </a:extLst>
          </p:cNvPr>
          <p:cNvSpPr/>
          <p:nvPr/>
        </p:nvSpPr>
        <p:spPr>
          <a:xfrm>
            <a:off x="838199" y="5623173"/>
            <a:ext cx="3354659"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i="0" u="none" strike="noStrike" cap="none" dirty="0">
                <a:solidFill>
                  <a:schemeClr val="dk1"/>
                </a:solidFill>
                <a:latin typeface="Helvetica Neue"/>
                <a:ea typeface="Helvetica Neue"/>
                <a:cs typeface="Helvetica Neue"/>
                <a:sym typeface="Helvetica Neue"/>
              </a:rPr>
              <a:t>Brand </a:t>
            </a:r>
            <a:r>
              <a:rPr lang="en-US" sz="1200" b="1" dirty="0">
                <a:solidFill>
                  <a:schemeClr val="dk1"/>
                </a:solidFill>
                <a:latin typeface="Helvetica Neue"/>
                <a:ea typeface="Helvetica Neue"/>
                <a:cs typeface="Helvetica Neue"/>
                <a:sym typeface="Helvetica Neue"/>
              </a:rPr>
              <a:t>Ambassador (KA)</a:t>
            </a:r>
            <a:r>
              <a:rPr lang="en-US" sz="1200" b="1" i="0" u="none" strike="noStrike" cap="none" dirty="0">
                <a:solidFill>
                  <a:schemeClr val="dk1"/>
                </a:solidFill>
                <a:latin typeface="Helvetica Neue"/>
                <a:ea typeface="Helvetica Neue"/>
                <a:cs typeface="Helvetica Neue"/>
                <a:sym typeface="Helvetica Neue"/>
              </a:rPr>
              <a:t> – Way Forward</a:t>
            </a:r>
            <a:endParaRPr dirty="0"/>
          </a:p>
        </p:txBody>
      </p:sp>
      <p:sp>
        <p:nvSpPr>
          <p:cNvPr id="6" name="Google Shape;22;p6">
            <a:extLst>
              <a:ext uri="{FF2B5EF4-FFF2-40B4-BE49-F238E27FC236}">
                <a16:creationId xmlns:a16="http://schemas.microsoft.com/office/drawing/2014/main" id="{9611191D-A15B-5AC4-BBBC-4CB917F3BC8C}"/>
              </a:ext>
            </a:extLst>
          </p:cNvPr>
          <p:cNvSpPr/>
          <p:nvPr/>
        </p:nvSpPr>
        <p:spPr>
          <a:xfrm>
            <a:off x="1771650" y="6172200"/>
            <a:ext cx="3001072" cy="33732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KA Integration in the brand</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Tone of Voice</a:t>
            </a:r>
            <a:endParaRPr lang="en-US" dirty="0">
              <a:latin typeface="Helvetica Neue"/>
              <a:ea typeface="Helvetica Neue"/>
              <a:cs typeface="Helvetica Neue"/>
              <a:sym typeface="Helvetica Neue"/>
            </a:endParaRP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TVC</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Photoshoot</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Packaging</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Social Media</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Retail and BTL</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D2C and Ecommerce</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Print and Outdoor</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Promotion and Offers</a:t>
            </a: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Influencer </a:t>
            </a:r>
            <a:r>
              <a:rPr lang="en-US" sz="1000" dirty="0" err="1">
                <a:solidFill>
                  <a:schemeClr val="dk1"/>
                </a:solidFill>
                <a:latin typeface="Helvetica Neue"/>
                <a:ea typeface="Helvetica Neue"/>
                <a:cs typeface="Helvetica Neue"/>
                <a:sym typeface="Helvetica Neue"/>
              </a:rPr>
              <a:t>Colab</a:t>
            </a:r>
            <a:endParaRPr lang="en-US" sz="1000" dirty="0">
              <a:solidFill>
                <a:schemeClr val="dk1"/>
              </a:solidFill>
              <a:latin typeface="Helvetica Neue"/>
              <a:ea typeface="Helvetica Neue"/>
              <a:cs typeface="Helvetica Neue"/>
              <a:sym typeface="Helvetica Neue"/>
            </a:endParaRPr>
          </a:p>
          <a:p>
            <a:pPr marL="171450" marR="0" lvl="0" indent="-171450" algn="l" rtl="0">
              <a:spcBef>
                <a:spcPts val="0"/>
              </a:spcBef>
              <a:spcAft>
                <a:spcPts val="0"/>
              </a:spcAft>
              <a:buFont typeface="Arial" panose="020B0604020202020204" pitchFamily="34" charset="0"/>
              <a:buChar char="•"/>
            </a:pPr>
            <a:r>
              <a:rPr lang="en-US" sz="1000" dirty="0">
                <a:solidFill>
                  <a:schemeClr val="dk1"/>
                </a:solidFill>
                <a:latin typeface="Helvetica Neue"/>
                <a:ea typeface="Helvetica Neue"/>
                <a:cs typeface="Helvetica Neue"/>
                <a:sym typeface="Helvetica Neue"/>
              </a:rPr>
              <a:t>Internal and Trade</a:t>
            </a:r>
          </a:p>
          <a:p>
            <a:pPr marR="0" lvl="0" algn="l" rtl="0">
              <a:spcBef>
                <a:spcPts val="0"/>
              </a:spcBef>
              <a:spcAft>
                <a:spcPts val="0"/>
              </a:spcAft>
            </a:pPr>
            <a:endParaRPr lang="en-US" sz="1000" dirty="0">
              <a:solidFill>
                <a:schemeClr val="dk1"/>
              </a:solidFill>
              <a:latin typeface="Helvetica Neue"/>
              <a:ea typeface="Helvetica Neue"/>
              <a:cs typeface="Helvetica Neue"/>
              <a:sym typeface="Helvetica Neue"/>
            </a:endParaRPr>
          </a:p>
        </p:txBody>
      </p:sp>
      <p:sp>
        <p:nvSpPr>
          <p:cNvPr id="7" name="Google Shape;25;p6">
            <a:extLst>
              <a:ext uri="{FF2B5EF4-FFF2-40B4-BE49-F238E27FC236}">
                <a16:creationId xmlns:a16="http://schemas.microsoft.com/office/drawing/2014/main" id="{DFB29062-EF39-D7EB-5187-5FEE81F7410D}"/>
              </a:ext>
            </a:extLst>
          </p:cNvPr>
          <p:cNvSpPr/>
          <p:nvPr/>
        </p:nvSpPr>
        <p:spPr>
          <a:xfrm>
            <a:off x="609600" y="4568041"/>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Scope of work</a:t>
            </a:r>
            <a:endParaRPr dirty="0"/>
          </a:p>
        </p:txBody>
      </p:sp>
      <p:pic>
        <p:nvPicPr>
          <p:cNvPr id="8" name="Google Shape;26;p6">
            <a:extLst>
              <a:ext uri="{FF2B5EF4-FFF2-40B4-BE49-F238E27FC236}">
                <a16:creationId xmlns:a16="http://schemas.microsoft.com/office/drawing/2014/main" id="{CD93A2E9-E7F0-BCD1-FDCB-B07C1DD3D0AA}"/>
              </a:ext>
            </a:extLst>
          </p:cNvPr>
          <p:cNvPicPr preferRelativeResize="0"/>
          <p:nvPr/>
        </p:nvPicPr>
        <p:blipFill rotWithShape="1">
          <a:blip r:embed="rId3">
            <a:alphaModFix/>
          </a:blip>
          <a:srcRect/>
          <a:stretch/>
        </p:blipFill>
        <p:spPr>
          <a:xfrm>
            <a:off x="1771650" y="5195148"/>
            <a:ext cx="207457" cy="20745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1;p7">
            <a:extLst>
              <a:ext uri="{FF2B5EF4-FFF2-40B4-BE49-F238E27FC236}">
                <a16:creationId xmlns:a16="http://schemas.microsoft.com/office/drawing/2014/main" id="{9D72C87E-4211-307A-DC0E-6E375C7066A1}"/>
              </a:ext>
            </a:extLst>
          </p:cNvPr>
          <p:cNvSpPr/>
          <p:nvPr/>
        </p:nvSpPr>
        <p:spPr>
          <a:xfrm>
            <a:off x="778704" y="3003801"/>
            <a:ext cx="1208985"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Brand Manual</a:t>
            </a:r>
            <a:endParaRPr/>
          </a:p>
        </p:txBody>
      </p:sp>
      <p:sp>
        <p:nvSpPr>
          <p:cNvPr id="9" name="Google Shape;32;p7">
            <a:extLst>
              <a:ext uri="{FF2B5EF4-FFF2-40B4-BE49-F238E27FC236}">
                <a16:creationId xmlns:a16="http://schemas.microsoft.com/office/drawing/2014/main" id="{2C36A892-56F9-2AC4-35A8-E086BDFD8FB4}"/>
              </a:ext>
            </a:extLst>
          </p:cNvPr>
          <p:cNvSpPr/>
          <p:nvPr/>
        </p:nvSpPr>
        <p:spPr>
          <a:xfrm>
            <a:off x="1780232" y="3609185"/>
            <a:ext cx="3429000" cy="20928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Vision</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Mission</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Purpose</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Tone of voice</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Brand Logo and Typographic Style</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Do’s and Don’ts regarding use of the logo</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Determining the exclusion zone for the logo</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Look and Feel of the Brand</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Adaptation Formats</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Color Guidelines:</a:t>
            </a:r>
            <a:endParaRPr/>
          </a:p>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Helvetica Neue"/>
                <a:ea typeface="Helvetica Neue"/>
                <a:cs typeface="Helvetica Neue"/>
                <a:sym typeface="Helvetica Neue"/>
              </a:rPr>
              <a:t>CMYK format</a:t>
            </a:r>
            <a:endParaRPr/>
          </a:p>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Helvetica Neue"/>
                <a:ea typeface="Helvetica Neue"/>
                <a:cs typeface="Helvetica Neue"/>
                <a:sym typeface="Helvetica Neue"/>
              </a:rPr>
              <a:t>RGB format</a:t>
            </a:r>
            <a:endParaRPr/>
          </a:p>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Helvetica Neue"/>
                <a:ea typeface="Helvetica Neue"/>
                <a:cs typeface="Helvetica Neue"/>
                <a:sym typeface="Helvetica Neue"/>
              </a:rPr>
              <a:t>Digital colors</a:t>
            </a:r>
            <a:endParaRPr/>
          </a:p>
        </p:txBody>
      </p:sp>
      <p:sp>
        <p:nvSpPr>
          <p:cNvPr id="10" name="Google Shape;33;p7">
            <a:extLst>
              <a:ext uri="{FF2B5EF4-FFF2-40B4-BE49-F238E27FC236}">
                <a16:creationId xmlns:a16="http://schemas.microsoft.com/office/drawing/2014/main" id="{5F9B788C-1DF5-87A9-78F9-5D2BD1414BC8}"/>
              </a:ext>
            </a:extLst>
          </p:cNvPr>
          <p:cNvSpPr/>
          <p:nvPr/>
        </p:nvSpPr>
        <p:spPr>
          <a:xfrm>
            <a:off x="778704" y="6530140"/>
            <a:ext cx="401289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Brand Manual Also Includes Website / Digital Assets</a:t>
            </a:r>
            <a:endParaRPr/>
          </a:p>
        </p:txBody>
      </p:sp>
      <p:sp>
        <p:nvSpPr>
          <p:cNvPr id="11" name="Google Shape;34;p7">
            <a:extLst>
              <a:ext uri="{FF2B5EF4-FFF2-40B4-BE49-F238E27FC236}">
                <a16:creationId xmlns:a16="http://schemas.microsoft.com/office/drawing/2014/main" id="{30BA01AF-18DD-7336-BC99-EF6EB948C995}"/>
              </a:ext>
            </a:extLst>
          </p:cNvPr>
          <p:cNvSpPr/>
          <p:nvPr/>
        </p:nvSpPr>
        <p:spPr>
          <a:xfrm>
            <a:off x="1800755" y="7140279"/>
            <a:ext cx="3429000" cy="13234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Color</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Typography</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Logo Animation</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Icon Style &amp; Bank</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Button Style</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Home Page Template only</a:t>
            </a:r>
            <a:endParaRPr/>
          </a:p>
          <a:p>
            <a:pPr marL="0" marR="0" lvl="0" indent="0" algn="l" rtl="0">
              <a:spcBef>
                <a:spcPts val="0"/>
              </a:spcBef>
              <a:spcAft>
                <a:spcPts val="0"/>
              </a:spcAft>
              <a:buNone/>
            </a:pPr>
            <a:endParaRPr sz="10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000" b="1">
                <a:solidFill>
                  <a:schemeClr val="dk1"/>
                </a:solidFill>
                <a:latin typeface="Helvetica Neue"/>
                <a:ea typeface="Helvetica Neue"/>
                <a:cs typeface="Helvetica Neue"/>
                <a:sym typeface="Helvetica Neue"/>
              </a:rPr>
              <a:t>Online Store – Separate Scope </a:t>
            </a:r>
            <a:endParaRPr/>
          </a:p>
        </p:txBody>
      </p:sp>
      <p:sp>
        <p:nvSpPr>
          <p:cNvPr id="12" name="Google Shape;35;p7">
            <a:extLst>
              <a:ext uri="{FF2B5EF4-FFF2-40B4-BE49-F238E27FC236}">
                <a16:creationId xmlns:a16="http://schemas.microsoft.com/office/drawing/2014/main" id="{B55D5812-8C81-2CCD-81AB-9C82C4CE1CEB}"/>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Scope of work</a:t>
            </a:r>
            <a:endParaRPr dirty="0"/>
          </a:p>
        </p:txBody>
      </p:sp>
      <p:pic>
        <p:nvPicPr>
          <p:cNvPr id="13" name="Google Shape;36;p7">
            <a:extLst>
              <a:ext uri="{FF2B5EF4-FFF2-40B4-BE49-F238E27FC236}">
                <a16:creationId xmlns:a16="http://schemas.microsoft.com/office/drawing/2014/main" id="{94DB15EA-2443-235A-20F5-4EE2931E6308}"/>
              </a:ext>
            </a:extLst>
          </p:cNvPr>
          <p:cNvPicPr preferRelativeResize="0"/>
          <p:nvPr/>
        </p:nvPicPr>
        <p:blipFill rotWithShape="1">
          <a:blip r:embed="rId2">
            <a:alphaModFix/>
          </a:blip>
          <a:srcRect/>
          <a:stretch/>
        </p:blipFill>
        <p:spPr>
          <a:xfrm>
            <a:off x="1780232" y="2598740"/>
            <a:ext cx="207457" cy="207457"/>
          </a:xfrm>
          <a:prstGeom prst="rect">
            <a:avLst/>
          </a:prstGeom>
          <a:noFill/>
          <a:ln>
            <a:noFill/>
          </a:ln>
        </p:spPr>
      </p:pic>
      <p:pic>
        <p:nvPicPr>
          <p:cNvPr id="14" name="Google Shape;37;p7">
            <a:extLst>
              <a:ext uri="{FF2B5EF4-FFF2-40B4-BE49-F238E27FC236}">
                <a16:creationId xmlns:a16="http://schemas.microsoft.com/office/drawing/2014/main" id="{8539D6F0-EC4C-1BE0-DB39-CA63A909D514}"/>
              </a:ext>
            </a:extLst>
          </p:cNvPr>
          <p:cNvPicPr preferRelativeResize="0"/>
          <p:nvPr/>
        </p:nvPicPr>
        <p:blipFill rotWithShape="1">
          <a:blip r:embed="rId2">
            <a:alphaModFix/>
          </a:blip>
          <a:srcRect/>
          <a:stretch/>
        </p:blipFill>
        <p:spPr>
          <a:xfrm>
            <a:off x="1800755" y="6003398"/>
            <a:ext cx="207457" cy="207457"/>
          </a:xfrm>
          <a:prstGeom prst="rect">
            <a:avLst/>
          </a:prstGeom>
          <a:noFill/>
          <a:ln>
            <a:noFill/>
          </a:ln>
        </p:spPr>
      </p:pic>
    </p:spTree>
    <p:extLst>
      <p:ext uri="{BB962C8B-B14F-4D97-AF65-F5344CB8AC3E}">
        <p14:creationId xmlns:p14="http://schemas.microsoft.com/office/powerpoint/2010/main" val="96541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2;p8">
            <a:extLst>
              <a:ext uri="{FF2B5EF4-FFF2-40B4-BE49-F238E27FC236}">
                <a16:creationId xmlns:a16="http://schemas.microsoft.com/office/drawing/2014/main" id="{7C8EC93C-3625-4BA4-29D2-731E3A5B947F}"/>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Scope of work</a:t>
            </a:r>
            <a:endParaRPr dirty="0"/>
          </a:p>
        </p:txBody>
      </p:sp>
      <p:sp>
        <p:nvSpPr>
          <p:cNvPr id="3" name="Google Shape;43;p8">
            <a:extLst>
              <a:ext uri="{FF2B5EF4-FFF2-40B4-BE49-F238E27FC236}">
                <a16:creationId xmlns:a16="http://schemas.microsoft.com/office/drawing/2014/main" id="{D048275B-7D6E-9E2D-070F-A6C8B4BB4229}"/>
              </a:ext>
            </a:extLst>
          </p:cNvPr>
          <p:cNvSpPr/>
          <p:nvPr/>
        </p:nvSpPr>
        <p:spPr>
          <a:xfrm>
            <a:off x="685800" y="3142343"/>
            <a:ext cx="328041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Brand communication – Fan and Cooler</a:t>
            </a:r>
            <a:endParaRPr dirty="0"/>
          </a:p>
        </p:txBody>
      </p:sp>
      <p:sp>
        <p:nvSpPr>
          <p:cNvPr id="4" name="Google Shape;44;p8">
            <a:extLst>
              <a:ext uri="{FF2B5EF4-FFF2-40B4-BE49-F238E27FC236}">
                <a16:creationId xmlns:a16="http://schemas.microsoft.com/office/drawing/2014/main" id="{98B1DCD2-B724-F959-2B76-3F3F7295AE39}"/>
              </a:ext>
            </a:extLst>
          </p:cNvPr>
          <p:cNvSpPr/>
          <p:nvPr/>
        </p:nvSpPr>
        <p:spPr>
          <a:xfrm>
            <a:off x="1772631" y="3691947"/>
            <a:ext cx="4533900" cy="19389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Keeping the Vision | Mission | Purpose and Tone of Voice:</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Digital Launch Campaign</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Virtual Instore Campaign </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Outdoors</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Print Campaign</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Direct Mailers</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Gift Ideas</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Product Story Collaterals </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and</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All other collateral + ATL and BTL requirements</a:t>
            </a:r>
            <a:endParaRPr/>
          </a:p>
          <a:p>
            <a:pPr marL="0" marR="0" lvl="0" indent="0" algn="l" rtl="0">
              <a:spcBef>
                <a:spcPts val="0"/>
              </a:spcBef>
              <a:spcAft>
                <a:spcPts val="0"/>
              </a:spcAft>
              <a:buNone/>
            </a:pPr>
            <a:endParaRPr sz="10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000" b="1">
                <a:solidFill>
                  <a:schemeClr val="dk1"/>
                </a:solidFill>
                <a:latin typeface="Helvetica Neue"/>
                <a:ea typeface="Helvetica Neue"/>
                <a:cs typeface="Helvetica Neue"/>
                <a:sym typeface="Helvetica Neue"/>
              </a:rPr>
              <a:t>Basically everything that a brand requires</a:t>
            </a:r>
            <a:endParaRPr/>
          </a:p>
        </p:txBody>
      </p:sp>
      <p:sp>
        <p:nvSpPr>
          <p:cNvPr id="5" name="Google Shape;45;p8">
            <a:extLst>
              <a:ext uri="{FF2B5EF4-FFF2-40B4-BE49-F238E27FC236}">
                <a16:creationId xmlns:a16="http://schemas.microsoft.com/office/drawing/2014/main" id="{9A4266D6-291B-9149-3483-03FEA6AA251D}"/>
              </a:ext>
            </a:extLst>
          </p:cNvPr>
          <p:cNvSpPr/>
          <p:nvPr/>
        </p:nvSpPr>
        <p:spPr>
          <a:xfrm>
            <a:off x="685800" y="6348159"/>
            <a:ext cx="297180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Packaging - Fan and Cooler</a:t>
            </a:r>
            <a:endParaRPr sz="1200" dirty="0"/>
          </a:p>
        </p:txBody>
      </p:sp>
      <p:sp>
        <p:nvSpPr>
          <p:cNvPr id="6" name="Google Shape;46;p8">
            <a:extLst>
              <a:ext uri="{FF2B5EF4-FFF2-40B4-BE49-F238E27FC236}">
                <a16:creationId xmlns:a16="http://schemas.microsoft.com/office/drawing/2014/main" id="{B13E710E-4891-3B30-C9E4-1329680BE536}"/>
              </a:ext>
            </a:extLst>
          </p:cNvPr>
          <p:cNvSpPr/>
          <p:nvPr/>
        </p:nvSpPr>
        <p:spPr>
          <a:xfrm>
            <a:off x="1779558" y="6752202"/>
            <a:ext cx="4316442" cy="86177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Designed with a Thought - Environment on our mind.</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Designed with Care -  People who use them on our mind.</a:t>
            </a:r>
            <a:br>
              <a:rPr lang="en-US" sz="1000" dirty="0">
                <a:solidFill>
                  <a:schemeClr val="dk1"/>
                </a:solidFill>
                <a:latin typeface="Helvetica Neue"/>
                <a:ea typeface="Helvetica Neue"/>
                <a:cs typeface="Helvetica Neue"/>
                <a:sym typeface="Helvetica Neue"/>
              </a:rPr>
            </a:br>
            <a:r>
              <a:rPr lang="en-US" sz="1000" dirty="0">
                <a:solidFill>
                  <a:schemeClr val="dk1"/>
                </a:solidFill>
                <a:latin typeface="Helvetica Neue"/>
                <a:ea typeface="Helvetica Neue"/>
                <a:cs typeface="Helvetica Neue"/>
                <a:sym typeface="Helvetica Neue"/>
              </a:rPr>
              <a:t>Designed to Work - Protection, preservation, and logistics on our mind.</a:t>
            </a:r>
            <a:br>
              <a:rPr lang="en-US" sz="1000" dirty="0">
                <a:solidFill>
                  <a:schemeClr val="dk1"/>
                </a:solidFill>
                <a:latin typeface="Helvetica Neue"/>
                <a:ea typeface="Helvetica Neue"/>
                <a:cs typeface="Helvetica Neue"/>
                <a:sym typeface="Helvetica Neue"/>
              </a:rPr>
            </a:br>
            <a:r>
              <a:rPr lang="en-US" sz="1000" dirty="0">
                <a:solidFill>
                  <a:schemeClr val="dk1"/>
                </a:solidFill>
                <a:latin typeface="Helvetica Neue"/>
                <a:ea typeface="Helvetica Neue"/>
                <a:cs typeface="Helvetica Neue"/>
                <a:sym typeface="Helvetica Neue"/>
              </a:rPr>
              <a:t>Designed with Materials - Feel on our mind.</a:t>
            </a:r>
            <a:br>
              <a:rPr lang="en-US" sz="1000" dirty="0">
                <a:solidFill>
                  <a:schemeClr val="dk1"/>
                </a:solidFill>
                <a:latin typeface="Helvetica Neue"/>
                <a:ea typeface="Helvetica Neue"/>
                <a:cs typeface="Helvetica Neue"/>
                <a:sym typeface="Helvetica Neue"/>
              </a:rPr>
            </a:br>
            <a:r>
              <a:rPr lang="en-US" sz="1000" dirty="0">
                <a:solidFill>
                  <a:schemeClr val="dk1"/>
                </a:solidFill>
                <a:latin typeface="Helvetica Neue"/>
                <a:ea typeface="Helvetica Neue"/>
                <a:cs typeface="Helvetica Neue"/>
                <a:sym typeface="Helvetica Neue"/>
              </a:rPr>
              <a:t>Designed with Money - Keeping costs in our mind.</a:t>
            </a:r>
            <a:endParaRPr sz="1000" dirty="0">
              <a:solidFill>
                <a:schemeClr val="dk1"/>
              </a:solidFill>
              <a:latin typeface="Helvetica Neue"/>
              <a:ea typeface="Helvetica Neue"/>
              <a:cs typeface="Helvetica Neue"/>
              <a:sym typeface="Helvetica Neue"/>
            </a:endParaRPr>
          </a:p>
        </p:txBody>
      </p:sp>
      <p:pic>
        <p:nvPicPr>
          <p:cNvPr id="7" name="Google Shape;47;p8">
            <a:extLst>
              <a:ext uri="{FF2B5EF4-FFF2-40B4-BE49-F238E27FC236}">
                <a16:creationId xmlns:a16="http://schemas.microsoft.com/office/drawing/2014/main" id="{A4A7C423-164D-ACF1-7DF1-C505F2480E6E}"/>
              </a:ext>
            </a:extLst>
          </p:cNvPr>
          <p:cNvPicPr preferRelativeResize="0"/>
          <p:nvPr/>
        </p:nvPicPr>
        <p:blipFill rotWithShape="1">
          <a:blip r:embed="rId2">
            <a:alphaModFix/>
          </a:blip>
          <a:srcRect/>
          <a:stretch/>
        </p:blipFill>
        <p:spPr>
          <a:xfrm>
            <a:off x="1765704" y="2696561"/>
            <a:ext cx="207457" cy="207457"/>
          </a:xfrm>
          <a:prstGeom prst="rect">
            <a:avLst/>
          </a:prstGeom>
          <a:noFill/>
          <a:ln>
            <a:noFill/>
          </a:ln>
        </p:spPr>
      </p:pic>
      <p:pic>
        <p:nvPicPr>
          <p:cNvPr id="8" name="Google Shape;48;p8">
            <a:extLst>
              <a:ext uri="{FF2B5EF4-FFF2-40B4-BE49-F238E27FC236}">
                <a16:creationId xmlns:a16="http://schemas.microsoft.com/office/drawing/2014/main" id="{541A7352-6A29-1203-8A5B-57264BEC0AAB}"/>
              </a:ext>
            </a:extLst>
          </p:cNvPr>
          <p:cNvPicPr preferRelativeResize="0"/>
          <p:nvPr/>
        </p:nvPicPr>
        <p:blipFill rotWithShape="1">
          <a:blip r:embed="rId2">
            <a:alphaModFix/>
          </a:blip>
          <a:srcRect/>
          <a:stretch/>
        </p:blipFill>
        <p:spPr>
          <a:xfrm>
            <a:off x="1765704" y="5869620"/>
            <a:ext cx="207457" cy="207457"/>
          </a:xfrm>
          <a:prstGeom prst="rect">
            <a:avLst/>
          </a:prstGeom>
          <a:noFill/>
          <a:ln>
            <a:noFill/>
          </a:ln>
        </p:spPr>
      </p:pic>
    </p:spTree>
    <p:extLst>
      <p:ext uri="{BB962C8B-B14F-4D97-AF65-F5344CB8AC3E}">
        <p14:creationId xmlns:p14="http://schemas.microsoft.com/office/powerpoint/2010/main" val="3126878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3;p9">
            <a:extLst>
              <a:ext uri="{FF2B5EF4-FFF2-40B4-BE49-F238E27FC236}">
                <a16:creationId xmlns:a16="http://schemas.microsoft.com/office/drawing/2014/main" id="{9CF21728-4969-6CEF-16FA-85F5FA679D3F}"/>
              </a:ext>
            </a:extLst>
          </p:cNvPr>
          <p:cNvSpPr/>
          <p:nvPr/>
        </p:nvSpPr>
        <p:spPr>
          <a:xfrm>
            <a:off x="460018" y="2133600"/>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Scope of work</a:t>
            </a:r>
            <a:endParaRPr dirty="0"/>
          </a:p>
        </p:txBody>
      </p:sp>
      <p:sp>
        <p:nvSpPr>
          <p:cNvPr id="3" name="Google Shape;54;p9">
            <a:extLst>
              <a:ext uri="{FF2B5EF4-FFF2-40B4-BE49-F238E27FC236}">
                <a16:creationId xmlns:a16="http://schemas.microsoft.com/office/drawing/2014/main" id="{273E56B4-B7CC-F22F-7923-16AA4A6660BA}"/>
              </a:ext>
            </a:extLst>
          </p:cNvPr>
          <p:cNvSpPr/>
          <p:nvPr/>
        </p:nvSpPr>
        <p:spPr>
          <a:xfrm>
            <a:off x="990600" y="3188085"/>
            <a:ext cx="342900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Social Media – Brand and All Three Product</a:t>
            </a:r>
            <a:endParaRPr dirty="0"/>
          </a:p>
        </p:txBody>
      </p:sp>
      <p:sp>
        <p:nvSpPr>
          <p:cNvPr id="4" name="Google Shape;55;p9">
            <a:extLst>
              <a:ext uri="{FF2B5EF4-FFF2-40B4-BE49-F238E27FC236}">
                <a16:creationId xmlns:a16="http://schemas.microsoft.com/office/drawing/2014/main" id="{FBBFD553-C520-2F5E-D231-BB36ED95E47B}"/>
              </a:ext>
            </a:extLst>
          </p:cNvPr>
          <p:cNvSpPr/>
          <p:nvPr/>
        </p:nvSpPr>
        <p:spPr>
          <a:xfrm>
            <a:off x="1770925" y="3711076"/>
            <a:ext cx="3429000" cy="116955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Strategy</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Brand Communication</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Product Communication </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Story Campaigns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Customer Engagement Ideas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Topical Engagements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Brand Ambassadors Stories  </a:t>
            </a:r>
            <a:endParaRPr dirty="0"/>
          </a:p>
        </p:txBody>
      </p:sp>
      <p:sp>
        <p:nvSpPr>
          <p:cNvPr id="5" name="Google Shape;56;p9">
            <a:extLst>
              <a:ext uri="{FF2B5EF4-FFF2-40B4-BE49-F238E27FC236}">
                <a16:creationId xmlns:a16="http://schemas.microsoft.com/office/drawing/2014/main" id="{C2B7B350-9B07-3940-0126-23FE5A6C2663}"/>
              </a:ext>
            </a:extLst>
          </p:cNvPr>
          <p:cNvSpPr/>
          <p:nvPr/>
        </p:nvSpPr>
        <p:spPr>
          <a:xfrm>
            <a:off x="1770925" y="5126619"/>
            <a:ext cx="138371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Form of Content</a:t>
            </a:r>
            <a:endParaRPr/>
          </a:p>
        </p:txBody>
      </p:sp>
      <p:sp>
        <p:nvSpPr>
          <p:cNvPr id="6" name="Google Shape;57;p9">
            <a:extLst>
              <a:ext uri="{FF2B5EF4-FFF2-40B4-BE49-F238E27FC236}">
                <a16:creationId xmlns:a16="http://schemas.microsoft.com/office/drawing/2014/main" id="{37CAD1F2-4A71-D3F2-CD5B-4CE20E340D07}"/>
              </a:ext>
            </a:extLst>
          </p:cNvPr>
          <p:cNvSpPr/>
          <p:nvPr/>
        </p:nvSpPr>
        <p:spPr>
          <a:xfrm>
            <a:off x="1770925" y="5651737"/>
            <a:ext cx="4117257" cy="55399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Static, Image, Typography </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Illustration, Infographics and GIFs. </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Video (Edits Only)</a:t>
            </a:r>
            <a:endParaRPr/>
          </a:p>
        </p:txBody>
      </p:sp>
      <p:sp>
        <p:nvSpPr>
          <p:cNvPr id="7" name="Google Shape;58;p9">
            <a:extLst>
              <a:ext uri="{FF2B5EF4-FFF2-40B4-BE49-F238E27FC236}">
                <a16:creationId xmlns:a16="http://schemas.microsoft.com/office/drawing/2014/main" id="{2F5D87D4-23E0-C027-CDD6-45672176F14C}"/>
              </a:ext>
            </a:extLst>
          </p:cNvPr>
          <p:cNvSpPr/>
          <p:nvPr/>
        </p:nvSpPr>
        <p:spPr>
          <a:xfrm>
            <a:off x="1770925" y="6451101"/>
            <a:ext cx="89319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Platforms</a:t>
            </a:r>
            <a:endParaRPr/>
          </a:p>
        </p:txBody>
      </p:sp>
      <p:sp>
        <p:nvSpPr>
          <p:cNvPr id="8" name="Google Shape;59;p9">
            <a:extLst>
              <a:ext uri="{FF2B5EF4-FFF2-40B4-BE49-F238E27FC236}">
                <a16:creationId xmlns:a16="http://schemas.microsoft.com/office/drawing/2014/main" id="{0F6EF5A6-C545-394B-089D-7C5F42CE4E1F}"/>
              </a:ext>
            </a:extLst>
          </p:cNvPr>
          <p:cNvSpPr/>
          <p:nvPr/>
        </p:nvSpPr>
        <p:spPr>
          <a:xfrm>
            <a:off x="1801362" y="6973466"/>
            <a:ext cx="3429000" cy="181620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Facebook</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Instagram</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YouTube</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Twitter </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LinkedIn</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Quora</a:t>
            </a:r>
          </a:p>
          <a:p>
            <a:pPr marL="0" marR="0" lvl="0" indent="0" algn="l" rtl="0">
              <a:spcBef>
                <a:spcPts val="0"/>
              </a:spcBef>
              <a:spcAft>
                <a:spcPts val="0"/>
              </a:spcAft>
              <a:buNone/>
            </a:pPr>
            <a:r>
              <a:rPr lang="en-US" sz="1000" i="1" dirty="0">
                <a:solidFill>
                  <a:schemeClr val="dk1"/>
                </a:solidFill>
                <a:latin typeface="Helvetica Neue"/>
                <a:ea typeface="Helvetica Neue"/>
                <a:cs typeface="Helvetica Neue"/>
                <a:sym typeface="Helvetica Neue"/>
              </a:rPr>
              <a:t>We pick and choose platform post consultatio</a:t>
            </a:r>
            <a:r>
              <a:rPr lang="en-US" sz="1000" dirty="0">
                <a:solidFill>
                  <a:schemeClr val="dk1"/>
                </a:solidFill>
                <a:latin typeface="Helvetica Neue"/>
                <a:ea typeface="Helvetica Neue"/>
                <a:cs typeface="Helvetica Neue"/>
                <a:sym typeface="Helvetica Neue"/>
              </a:rPr>
              <a:t>n</a:t>
            </a:r>
            <a:endParaRPr dirty="0"/>
          </a:p>
          <a:p>
            <a:pPr marL="0" marR="0" lvl="0" indent="0" algn="l" rtl="0">
              <a:spcBef>
                <a:spcPts val="0"/>
              </a:spcBef>
              <a:spcAft>
                <a:spcPts val="0"/>
              </a:spcAft>
              <a:buNone/>
            </a:pPr>
            <a:endParaRPr sz="1000" dirty="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Sorry</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No TikTok </a:t>
            </a:r>
            <a:endParaRPr sz="1000" dirty="0">
              <a:solidFill>
                <a:schemeClr val="dk1"/>
              </a:solidFill>
              <a:latin typeface="Helvetica Neue"/>
              <a:ea typeface="Helvetica Neue"/>
              <a:cs typeface="Helvetica Neue"/>
              <a:sym typeface="Helvetica Neue"/>
            </a:endParaRPr>
          </a:p>
        </p:txBody>
      </p:sp>
      <p:pic>
        <p:nvPicPr>
          <p:cNvPr id="9" name="Google Shape;60;p9">
            <a:extLst>
              <a:ext uri="{FF2B5EF4-FFF2-40B4-BE49-F238E27FC236}">
                <a16:creationId xmlns:a16="http://schemas.microsoft.com/office/drawing/2014/main" id="{81D3A458-63B5-4DC0-B234-66050EDE0270}"/>
              </a:ext>
            </a:extLst>
          </p:cNvPr>
          <p:cNvPicPr preferRelativeResize="0"/>
          <p:nvPr/>
        </p:nvPicPr>
        <p:blipFill rotWithShape="1">
          <a:blip r:embed="rId2">
            <a:alphaModFix/>
          </a:blip>
          <a:srcRect/>
          <a:stretch/>
        </p:blipFill>
        <p:spPr>
          <a:xfrm>
            <a:off x="1770925" y="2726391"/>
            <a:ext cx="207457" cy="207457"/>
          </a:xfrm>
          <a:prstGeom prst="rect">
            <a:avLst/>
          </a:prstGeom>
          <a:noFill/>
          <a:ln>
            <a:noFill/>
          </a:ln>
        </p:spPr>
      </p:pic>
    </p:spTree>
    <p:extLst>
      <p:ext uri="{BB962C8B-B14F-4D97-AF65-F5344CB8AC3E}">
        <p14:creationId xmlns:p14="http://schemas.microsoft.com/office/powerpoint/2010/main" val="381799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5;p10">
            <a:extLst>
              <a:ext uri="{FF2B5EF4-FFF2-40B4-BE49-F238E27FC236}">
                <a16:creationId xmlns:a16="http://schemas.microsoft.com/office/drawing/2014/main" id="{F692C392-5221-FEA4-CDEC-013FC376BC2D}"/>
              </a:ext>
            </a:extLst>
          </p:cNvPr>
          <p:cNvSpPr/>
          <p:nvPr/>
        </p:nvSpPr>
        <p:spPr>
          <a:xfrm>
            <a:off x="1054237" y="3232683"/>
            <a:ext cx="2018501"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Content and Copywriting</a:t>
            </a:r>
            <a:endParaRPr/>
          </a:p>
        </p:txBody>
      </p:sp>
      <p:sp>
        <p:nvSpPr>
          <p:cNvPr id="3" name="Google Shape;66;p10">
            <a:extLst>
              <a:ext uri="{FF2B5EF4-FFF2-40B4-BE49-F238E27FC236}">
                <a16:creationId xmlns:a16="http://schemas.microsoft.com/office/drawing/2014/main" id="{95A1ECA5-B281-E266-9386-60271E829AB5}"/>
              </a:ext>
            </a:extLst>
          </p:cNvPr>
          <p:cNvSpPr/>
          <p:nvPr/>
        </p:nvSpPr>
        <p:spPr>
          <a:xfrm>
            <a:off x="1795634" y="3748589"/>
            <a:ext cx="3108800" cy="861774"/>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000">
                <a:solidFill>
                  <a:schemeClr val="dk1"/>
                </a:solidFill>
                <a:latin typeface="Helvetica Neue"/>
                <a:ea typeface="Helvetica Neue"/>
                <a:cs typeface="Helvetica Neue"/>
                <a:sym typeface="Helvetica Neue"/>
              </a:rPr>
              <a:t>Writing, editing and publishing the content</a:t>
            </a:r>
            <a:endParaRPr/>
          </a:p>
          <a:p>
            <a:pPr marL="0" marR="0" lvl="0" indent="0" algn="just" rtl="0">
              <a:spcBef>
                <a:spcPts val="0"/>
              </a:spcBef>
              <a:spcAft>
                <a:spcPts val="0"/>
              </a:spcAft>
              <a:buNone/>
            </a:pPr>
            <a:r>
              <a:rPr lang="en-US" sz="1000">
                <a:solidFill>
                  <a:schemeClr val="dk1"/>
                </a:solidFill>
                <a:latin typeface="Helvetica Neue"/>
                <a:ea typeface="Helvetica Neue"/>
                <a:cs typeface="Helvetica Neue"/>
                <a:sym typeface="Helvetica Neue"/>
              </a:rPr>
              <a:t>Create monthly content bucket and calendar </a:t>
            </a:r>
            <a:endParaRPr/>
          </a:p>
          <a:p>
            <a:pPr marL="0" marR="0" lvl="0" indent="0" algn="just" rtl="0">
              <a:spcBef>
                <a:spcPts val="0"/>
              </a:spcBef>
              <a:spcAft>
                <a:spcPts val="0"/>
              </a:spcAft>
              <a:buNone/>
            </a:pPr>
            <a:r>
              <a:rPr lang="en-US" sz="1000">
                <a:solidFill>
                  <a:schemeClr val="dk1"/>
                </a:solidFill>
                <a:latin typeface="Helvetica Neue"/>
                <a:ea typeface="Helvetica Neue"/>
                <a:cs typeface="Helvetica Neue"/>
                <a:sym typeface="Helvetica Neue"/>
              </a:rPr>
              <a:t>Emailers and HTML.</a:t>
            </a:r>
            <a:endParaRPr/>
          </a:p>
          <a:p>
            <a:pPr marL="0" marR="0" lvl="0" indent="0" algn="just" rtl="0">
              <a:spcBef>
                <a:spcPts val="0"/>
              </a:spcBef>
              <a:spcAft>
                <a:spcPts val="0"/>
              </a:spcAft>
              <a:buNone/>
            </a:pPr>
            <a:r>
              <a:rPr lang="en-US" sz="1000">
                <a:solidFill>
                  <a:schemeClr val="dk1"/>
                </a:solidFill>
                <a:latin typeface="Helvetica Neue"/>
                <a:ea typeface="Helvetica Neue"/>
                <a:cs typeface="Helvetica Neue"/>
                <a:sym typeface="Helvetica Neue"/>
              </a:rPr>
              <a:t>Articles</a:t>
            </a:r>
            <a:endParaRPr/>
          </a:p>
          <a:p>
            <a:pPr marL="0" marR="0" lvl="0" indent="0" algn="just" rtl="0">
              <a:spcBef>
                <a:spcPts val="0"/>
              </a:spcBef>
              <a:spcAft>
                <a:spcPts val="0"/>
              </a:spcAft>
              <a:buNone/>
            </a:pPr>
            <a:r>
              <a:rPr lang="en-US" sz="1000">
                <a:solidFill>
                  <a:schemeClr val="dk1"/>
                </a:solidFill>
                <a:latin typeface="Helvetica Neue"/>
                <a:ea typeface="Helvetica Neue"/>
                <a:cs typeface="Helvetica Neue"/>
                <a:sym typeface="Helvetica Neue"/>
              </a:rPr>
              <a:t>Quora and blogs </a:t>
            </a:r>
            <a:endParaRPr/>
          </a:p>
        </p:txBody>
      </p:sp>
      <p:sp>
        <p:nvSpPr>
          <p:cNvPr id="4" name="Google Shape;67;p10">
            <a:extLst>
              <a:ext uri="{FF2B5EF4-FFF2-40B4-BE49-F238E27FC236}">
                <a16:creationId xmlns:a16="http://schemas.microsoft.com/office/drawing/2014/main" id="{5A9535AB-CE8E-9EC9-D8E2-C8E6F6731829}"/>
              </a:ext>
            </a:extLst>
          </p:cNvPr>
          <p:cNvSpPr/>
          <p:nvPr/>
        </p:nvSpPr>
        <p:spPr>
          <a:xfrm>
            <a:off x="1054236" y="5446612"/>
            <a:ext cx="501636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SEO/GEO (For Geo Third Party Tool to be purchased by client) </a:t>
            </a:r>
            <a:endParaRPr dirty="0"/>
          </a:p>
        </p:txBody>
      </p:sp>
      <p:sp>
        <p:nvSpPr>
          <p:cNvPr id="5" name="Google Shape;68;p10">
            <a:extLst>
              <a:ext uri="{FF2B5EF4-FFF2-40B4-BE49-F238E27FC236}">
                <a16:creationId xmlns:a16="http://schemas.microsoft.com/office/drawing/2014/main" id="{3FA66307-61B7-FDC8-1109-7D45D0E52C03}"/>
              </a:ext>
            </a:extLst>
          </p:cNvPr>
          <p:cNvSpPr/>
          <p:nvPr/>
        </p:nvSpPr>
        <p:spPr>
          <a:xfrm>
            <a:off x="1795634" y="6035071"/>
            <a:ext cx="3429000" cy="270843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Page Activities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URL Structure</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Page Titles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Meta Descriptions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Body Tags (H1, H2, H3, H4, Etc.)</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Keyword Density</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Image SEO</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Internal Linking</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Canonical Tags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301 Redirects (moved Permanently)</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Off Page Activities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Question and Answer Sites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Social Bookmarking</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Press Releases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Classifieds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Blog Submission</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PPT/PDF Submission</a:t>
            </a:r>
            <a:endParaRPr dirty="0"/>
          </a:p>
        </p:txBody>
      </p:sp>
      <p:pic>
        <p:nvPicPr>
          <p:cNvPr id="6" name="Google Shape;69;p10">
            <a:extLst>
              <a:ext uri="{FF2B5EF4-FFF2-40B4-BE49-F238E27FC236}">
                <a16:creationId xmlns:a16="http://schemas.microsoft.com/office/drawing/2014/main" id="{CC0C7412-642C-3903-A271-C791DDF6EEA1}"/>
              </a:ext>
            </a:extLst>
          </p:cNvPr>
          <p:cNvPicPr preferRelativeResize="0"/>
          <p:nvPr/>
        </p:nvPicPr>
        <p:blipFill rotWithShape="1">
          <a:blip r:embed="rId2">
            <a:alphaModFix/>
          </a:blip>
          <a:srcRect/>
          <a:stretch/>
        </p:blipFill>
        <p:spPr>
          <a:xfrm>
            <a:off x="1795635" y="2713181"/>
            <a:ext cx="207457" cy="207457"/>
          </a:xfrm>
          <a:prstGeom prst="rect">
            <a:avLst/>
          </a:prstGeom>
          <a:noFill/>
          <a:ln>
            <a:noFill/>
          </a:ln>
        </p:spPr>
      </p:pic>
      <p:sp>
        <p:nvSpPr>
          <p:cNvPr id="7" name="Google Shape;70;p10">
            <a:extLst>
              <a:ext uri="{FF2B5EF4-FFF2-40B4-BE49-F238E27FC236}">
                <a16:creationId xmlns:a16="http://schemas.microsoft.com/office/drawing/2014/main" id="{2AB0A1E7-0A98-A7F3-4481-2E0895C85A53}"/>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Scope of work</a:t>
            </a:r>
            <a:endParaRPr dirty="0"/>
          </a:p>
        </p:txBody>
      </p:sp>
      <p:pic>
        <p:nvPicPr>
          <p:cNvPr id="8" name="Google Shape;71;p10">
            <a:extLst>
              <a:ext uri="{FF2B5EF4-FFF2-40B4-BE49-F238E27FC236}">
                <a16:creationId xmlns:a16="http://schemas.microsoft.com/office/drawing/2014/main" id="{05CBE93E-E40C-225E-9304-616BD7A17B2B}"/>
              </a:ext>
            </a:extLst>
          </p:cNvPr>
          <p:cNvPicPr preferRelativeResize="0"/>
          <p:nvPr/>
        </p:nvPicPr>
        <p:blipFill rotWithShape="1">
          <a:blip r:embed="rId2">
            <a:alphaModFix/>
          </a:blip>
          <a:srcRect/>
          <a:stretch/>
        </p:blipFill>
        <p:spPr>
          <a:xfrm>
            <a:off x="1795634" y="4927695"/>
            <a:ext cx="207457" cy="207457"/>
          </a:xfrm>
          <a:prstGeom prst="rect">
            <a:avLst/>
          </a:prstGeom>
          <a:noFill/>
          <a:ln>
            <a:noFill/>
          </a:ln>
        </p:spPr>
      </p:pic>
    </p:spTree>
    <p:extLst>
      <p:ext uri="{BB962C8B-B14F-4D97-AF65-F5344CB8AC3E}">
        <p14:creationId xmlns:p14="http://schemas.microsoft.com/office/powerpoint/2010/main" val="4075297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6;p11">
            <a:extLst>
              <a:ext uri="{FF2B5EF4-FFF2-40B4-BE49-F238E27FC236}">
                <a16:creationId xmlns:a16="http://schemas.microsoft.com/office/drawing/2014/main" id="{D7CB2156-45E7-8784-140F-ADB8239CEA7F}"/>
              </a:ext>
            </a:extLst>
          </p:cNvPr>
          <p:cNvSpPr/>
          <p:nvPr/>
        </p:nvSpPr>
        <p:spPr>
          <a:xfrm>
            <a:off x="914400" y="3165634"/>
            <a:ext cx="493757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Social Listening (Third Party Software to be purchased by client) </a:t>
            </a:r>
            <a:endParaRPr dirty="0"/>
          </a:p>
        </p:txBody>
      </p:sp>
      <p:sp>
        <p:nvSpPr>
          <p:cNvPr id="3" name="Google Shape;77;p11">
            <a:extLst>
              <a:ext uri="{FF2B5EF4-FFF2-40B4-BE49-F238E27FC236}">
                <a16:creationId xmlns:a16="http://schemas.microsoft.com/office/drawing/2014/main" id="{20528C79-E28D-FFA9-15B4-F5700818FCB6}"/>
              </a:ext>
            </a:extLst>
          </p:cNvPr>
          <p:cNvSpPr/>
          <p:nvPr/>
        </p:nvSpPr>
        <p:spPr>
          <a:xfrm>
            <a:off x="1795635" y="3691829"/>
            <a:ext cx="3429000" cy="270843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Blogs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Forums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News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Complaint Forums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Twitter</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Facebook pages (all)</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Google Plus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Instagram</a:t>
            </a:r>
            <a:endParaRPr sz="1000" dirty="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YouTube</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Twitter Mentions, DMs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Facebook Inbox, comments, user posts, ratings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Instagram comments, locations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LinkedIn company page comments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YouTube channel comments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Google Business Reviews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Emails </a:t>
            </a:r>
            <a:endParaRPr dirty="0"/>
          </a:p>
        </p:txBody>
      </p:sp>
      <p:sp>
        <p:nvSpPr>
          <p:cNvPr id="4" name="Google Shape;78;p11">
            <a:extLst>
              <a:ext uri="{FF2B5EF4-FFF2-40B4-BE49-F238E27FC236}">
                <a16:creationId xmlns:a16="http://schemas.microsoft.com/office/drawing/2014/main" id="{472EDA7B-679C-52C3-D095-E9DC2EEF6CCA}"/>
              </a:ext>
            </a:extLst>
          </p:cNvPr>
          <p:cNvSpPr/>
          <p:nvPr/>
        </p:nvSpPr>
        <p:spPr>
          <a:xfrm>
            <a:off x="914400" y="7121445"/>
            <a:ext cx="107433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Social CRM </a:t>
            </a:r>
            <a:endParaRPr/>
          </a:p>
        </p:txBody>
      </p:sp>
      <p:sp>
        <p:nvSpPr>
          <p:cNvPr id="5" name="Google Shape;79;p11">
            <a:extLst>
              <a:ext uri="{FF2B5EF4-FFF2-40B4-BE49-F238E27FC236}">
                <a16:creationId xmlns:a16="http://schemas.microsoft.com/office/drawing/2014/main" id="{1EC5BC85-A969-28CF-CEA1-09F4E81BD75A}"/>
              </a:ext>
            </a:extLst>
          </p:cNvPr>
          <p:cNvSpPr/>
          <p:nvPr/>
        </p:nvSpPr>
        <p:spPr>
          <a:xfrm>
            <a:off x="1767926" y="7662973"/>
            <a:ext cx="3947074" cy="116955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Responding to customers</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Escalation Matrix – workflow</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Agent Queuing Feature</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Ticketing</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Classification (Tagging) – can be automated</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Assigning tasks to team – can be automated</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Integration with CRM – using Third Party APIs  </a:t>
            </a:r>
            <a:endParaRPr/>
          </a:p>
        </p:txBody>
      </p:sp>
      <p:pic>
        <p:nvPicPr>
          <p:cNvPr id="6" name="Google Shape;80;p11">
            <a:extLst>
              <a:ext uri="{FF2B5EF4-FFF2-40B4-BE49-F238E27FC236}">
                <a16:creationId xmlns:a16="http://schemas.microsoft.com/office/drawing/2014/main" id="{8FB68C8C-3D20-AE22-6168-222027C55748}"/>
              </a:ext>
            </a:extLst>
          </p:cNvPr>
          <p:cNvPicPr preferRelativeResize="0"/>
          <p:nvPr/>
        </p:nvPicPr>
        <p:blipFill rotWithShape="1">
          <a:blip r:embed="rId2">
            <a:alphaModFix/>
          </a:blip>
          <a:srcRect/>
          <a:stretch/>
        </p:blipFill>
        <p:spPr>
          <a:xfrm>
            <a:off x="1795635" y="2713181"/>
            <a:ext cx="207457" cy="207457"/>
          </a:xfrm>
          <a:prstGeom prst="rect">
            <a:avLst/>
          </a:prstGeom>
          <a:noFill/>
          <a:ln>
            <a:noFill/>
          </a:ln>
        </p:spPr>
      </p:pic>
      <p:pic>
        <p:nvPicPr>
          <p:cNvPr id="7" name="Google Shape;81;p11">
            <a:extLst>
              <a:ext uri="{FF2B5EF4-FFF2-40B4-BE49-F238E27FC236}">
                <a16:creationId xmlns:a16="http://schemas.microsoft.com/office/drawing/2014/main" id="{327AF319-064A-2DF5-9E80-FC7764864095}"/>
              </a:ext>
            </a:extLst>
          </p:cNvPr>
          <p:cNvPicPr preferRelativeResize="0"/>
          <p:nvPr/>
        </p:nvPicPr>
        <p:blipFill rotWithShape="1">
          <a:blip r:embed="rId2">
            <a:alphaModFix/>
          </a:blip>
          <a:srcRect/>
          <a:stretch/>
        </p:blipFill>
        <p:spPr>
          <a:xfrm>
            <a:off x="1795635" y="6649459"/>
            <a:ext cx="207457" cy="207457"/>
          </a:xfrm>
          <a:prstGeom prst="rect">
            <a:avLst/>
          </a:prstGeom>
          <a:noFill/>
          <a:ln>
            <a:noFill/>
          </a:ln>
        </p:spPr>
      </p:pic>
      <p:sp>
        <p:nvSpPr>
          <p:cNvPr id="8" name="Google Shape;82;p11">
            <a:extLst>
              <a:ext uri="{FF2B5EF4-FFF2-40B4-BE49-F238E27FC236}">
                <a16:creationId xmlns:a16="http://schemas.microsoft.com/office/drawing/2014/main" id="{041D9041-114C-60A9-0BC7-981DA4406741}"/>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Scope of work</a:t>
            </a:r>
            <a:endParaRPr dirty="0"/>
          </a:p>
        </p:txBody>
      </p:sp>
    </p:spTree>
    <p:extLst>
      <p:ext uri="{BB962C8B-B14F-4D97-AF65-F5344CB8AC3E}">
        <p14:creationId xmlns:p14="http://schemas.microsoft.com/office/powerpoint/2010/main" val="1219159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7;p12">
            <a:extLst>
              <a:ext uri="{FF2B5EF4-FFF2-40B4-BE49-F238E27FC236}">
                <a16:creationId xmlns:a16="http://schemas.microsoft.com/office/drawing/2014/main" id="{E6C50AAA-8D29-BF4E-9E0D-F055363665B0}"/>
              </a:ext>
            </a:extLst>
          </p:cNvPr>
          <p:cNvSpPr/>
          <p:nvPr/>
        </p:nvSpPr>
        <p:spPr>
          <a:xfrm>
            <a:off x="838200" y="3185818"/>
            <a:ext cx="5352747"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Analytics of Business (Third Party Software to be purchased by client) </a:t>
            </a:r>
            <a:endParaRPr dirty="0"/>
          </a:p>
        </p:txBody>
      </p:sp>
      <p:sp>
        <p:nvSpPr>
          <p:cNvPr id="3" name="Google Shape;88;p12">
            <a:extLst>
              <a:ext uri="{FF2B5EF4-FFF2-40B4-BE49-F238E27FC236}">
                <a16:creationId xmlns:a16="http://schemas.microsoft.com/office/drawing/2014/main" id="{016A3BE4-A4A2-5616-E2A0-2F95BB7F130C}"/>
              </a:ext>
            </a:extLst>
          </p:cNvPr>
          <p:cNvSpPr/>
          <p:nvPr/>
        </p:nvSpPr>
        <p:spPr>
          <a:xfrm>
            <a:off x="1769215" y="3747794"/>
            <a:ext cx="3429000" cy="132343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Share of Voice – Volume Analysis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Sentiment Analysis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Media Type Analysis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Twitter campaign Report</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Instagram campaign Report</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Classification Analysis Report</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Automated Listening Summary Report</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TAT Reports – for response management</a:t>
            </a:r>
            <a:endParaRPr dirty="0"/>
          </a:p>
        </p:txBody>
      </p:sp>
      <p:sp>
        <p:nvSpPr>
          <p:cNvPr id="6" name="Google Shape;91;p12">
            <a:extLst>
              <a:ext uri="{FF2B5EF4-FFF2-40B4-BE49-F238E27FC236}">
                <a16:creationId xmlns:a16="http://schemas.microsoft.com/office/drawing/2014/main" id="{9D134A7E-4AA3-4BCE-5C9C-938562DBC2FA}"/>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Scope of work</a:t>
            </a:r>
            <a:endParaRPr/>
          </a:p>
        </p:txBody>
      </p:sp>
      <p:pic>
        <p:nvPicPr>
          <p:cNvPr id="7" name="Google Shape;92;p12">
            <a:extLst>
              <a:ext uri="{FF2B5EF4-FFF2-40B4-BE49-F238E27FC236}">
                <a16:creationId xmlns:a16="http://schemas.microsoft.com/office/drawing/2014/main" id="{E4243449-01C7-0F5D-D1F5-F553E07E7DD2}"/>
              </a:ext>
            </a:extLst>
          </p:cNvPr>
          <p:cNvPicPr preferRelativeResize="0"/>
          <p:nvPr/>
        </p:nvPicPr>
        <p:blipFill rotWithShape="1">
          <a:blip r:embed="rId2">
            <a:alphaModFix/>
          </a:blip>
          <a:srcRect/>
          <a:stretch/>
        </p:blipFill>
        <p:spPr>
          <a:xfrm>
            <a:off x="1769215" y="2691126"/>
            <a:ext cx="207457" cy="207457"/>
          </a:xfrm>
          <a:prstGeom prst="rect">
            <a:avLst/>
          </a:prstGeom>
          <a:noFill/>
          <a:ln>
            <a:noFill/>
          </a:ln>
        </p:spPr>
      </p:pic>
      <p:pic>
        <p:nvPicPr>
          <p:cNvPr id="8" name="Google Shape;93;p12">
            <a:extLst>
              <a:ext uri="{FF2B5EF4-FFF2-40B4-BE49-F238E27FC236}">
                <a16:creationId xmlns:a16="http://schemas.microsoft.com/office/drawing/2014/main" id="{B21FBCC2-8C8A-098E-F43E-57EC1A197D3E}"/>
              </a:ext>
            </a:extLst>
          </p:cNvPr>
          <p:cNvPicPr preferRelativeResize="0"/>
          <p:nvPr/>
        </p:nvPicPr>
        <p:blipFill rotWithShape="1">
          <a:blip r:embed="rId2">
            <a:alphaModFix/>
          </a:blip>
          <a:srcRect/>
          <a:stretch/>
        </p:blipFill>
        <p:spPr>
          <a:xfrm>
            <a:off x="1769215" y="5356210"/>
            <a:ext cx="207457" cy="207457"/>
          </a:xfrm>
          <a:prstGeom prst="rect">
            <a:avLst/>
          </a:prstGeom>
          <a:noFill/>
          <a:ln>
            <a:noFill/>
          </a:ln>
        </p:spPr>
      </p:pic>
      <p:sp>
        <p:nvSpPr>
          <p:cNvPr id="16" name="Google Shape;98;p13">
            <a:extLst>
              <a:ext uri="{FF2B5EF4-FFF2-40B4-BE49-F238E27FC236}">
                <a16:creationId xmlns:a16="http://schemas.microsoft.com/office/drawing/2014/main" id="{5FE01BDD-8288-3C36-16BE-2331518A5365}"/>
              </a:ext>
            </a:extLst>
          </p:cNvPr>
          <p:cNvSpPr/>
          <p:nvPr/>
        </p:nvSpPr>
        <p:spPr>
          <a:xfrm>
            <a:off x="838200" y="5848644"/>
            <a:ext cx="557403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Reporting (Third Party Software to be purchased by client) </a:t>
            </a:r>
            <a:endParaRPr sz="1200" dirty="0"/>
          </a:p>
        </p:txBody>
      </p:sp>
      <p:sp>
        <p:nvSpPr>
          <p:cNvPr id="17" name="Google Shape;99;p13">
            <a:extLst>
              <a:ext uri="{FF2B5EF4-FFF2-40B4-BE49-F238E27FC236}">
                <a16:creationId xmlns:a16="http://schemas.microsoft.com/office/drawing/2014/main" id="{5C8EA4C0-96F9-807B-24DB-3DDE2388742A}"/>
              </a:ext>
            </a:extLst>
          </p:cNvPr>
          <p:cNvSpPr/>
          <p:nvPr/>
        </p:nvSpPr>
        <p:spPr>
          <a:xfrm>
            <a:off x="1941971" y="6326282"/>
            <a:ext cx="4572000" cy="142017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Monthly Reports</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Traffic</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Social Media Followers and Engagement </a:t>
            </a:r>
            <a:endParaRPr dirty="0"/>
          </a:p>
          <a:p>
            <a:pPr marL="0" marR="0" lvl="0" indent="0" algn="l" rtl="0">
              <a:spcBef>
                <a:spcPts val="0"/>
              </a:spcBef>
              <a:spcAft>
                <a:spcPts val="0"/>
              </a:spcAft>
              <a:buNone/>
            </a:pPr>
            <a:r>
              <a:rPr lang="en-US" sz="1000" dirty="0">
                <a:solidFill>
                  <a:schemeClr val="dk1"/>
                </a:solidFill>
                <a:latin typeface="Helvetica Neue"/>
                <a:ea typeface="Helvetica Neue"/>
                <a:cs typeface="Helvetica Neue"/>
                <a:sym typeface="Helvetica Neue"/>
              </a:rPr>
              <a:t>ORM</a:t>
            </a:r>
          </a:p>
          <a:p>
            <a:pPr marL="0" marR="0" lvl="0" indent="0" algn="l" rtl="0">
              <a:spcBef>
                <a:spcPts val="0"/>
              </a:spcBef>
              <a:spcAft>
                <a:spcPts val="0"/>
              </a:spcAft>
              <a:buNone/>
            </a:pPr>
            <a:r>
              <a:rPr lang="en-US" sz="1200" dirty="0">
                <a:solidFill>
                  <a:schemeClr val="dk1"/>
                </a:solidFill>
                <a:latin typeface="Helvetica Neue"/>
                <a:ea typeface="Helvetica Neue"/>
                <a:cs typeface="Helvetica Neue"/>
                <a:sym typeface="Helvetica Neue"/>
              </a:rPr>
              <a:t>Monthly Summary of the Competitors Activity</a:t>
            </a:r>
            <a:endParaRPr lang="en-US" sz="1200" dirty="0"/>
          </a:p>
          <a:p>
            <a:pPr marL="0" marR="0" lvl="0" indent="0" algn="l" rtl="0">
              <a:spcBef>
                <a:spcPts val="0"/>
              </a:spcBef>
              <a:spcAft>
                <a:spcPts val="0"/>
              </a:spcAft>
              <a:buNone/>
            </a:pPr>
            <a:r>
              <a:rPr lang="en-US" sz="1200" dirty="0">
                <a:solidFill>
                  <a:schemeClr val="dk1"/>
                </a:solidFill>
                <a:latin typeface="Helvetica Neue"/>
                <a:ea typeface="Helvetica Neue"/>
                <a:cs typeface="Helvetica Neue"/>
                <a:sym typeface="Helvetica Neue"/>
              </a:rPr>
              <a:t>Monthly Competitors Analysis:</a:t>
            </a:r>
            <a:endParaRPr lang="en-US" sz="1200" dirty="0"/>
          </a:p>
          <a:p>
            <a:pPr marL="0" marR="0" lvl="0" indent="0" algn="l" rtl="0">
              <a:spcBef>
                <a:spcPts val="0"/>
              </a:spcBef>
              <a:spcAft>
                <a:spcPts val="0"/>
              </a:spcAft>
              <a:buNone/>
            </a:pPr>
            <a:r>
              <a:rPr lang="en-US" sz="1200" dirty="0">
                <a:solidFill>
                  <a:schemeClr val="dk1"/>
                </a:solidFill>
                <a:latin typeface="Helvetica Neue"/>
                <a:ea typeface="Helvetica Neue"/>
                <a:cs typeface="Helvetica Neue"/>
                <a:sym typeface="Helvetica Neue"/>
              </a:rPr>
              <a:t>Keywords Positioning/Social Media</a:t>
            </a:r>
            <a:endParaRPr lang="en-US" sz="1200" dirty="0"/>
          </a:p>
          <a:p>
            <a:pPr marL="0" marR="0" lvl="0" indent="0" algn="l" rtl="0">
              <a:spcBef>
                <a:spcPts val="0"/>
              </a:spcBef>
              <a:spcAft>
                <a:spcPts val="0"/>
              </a:spcAft>
              <a:buNone/>
            </a:pPr>
            <a:r>
              <a:rPr lang="en-US" sz="1200" dirty="0">
                <a:solidFill>
                  <a:schemeClr val="dk1"/>
                </a:solidFill>
                <a:latin typeface="Helvetica Neue"/>
                <a:ea typeface="Helvetica Neue"/>
                <a:cs typeface="Helvetica Neue"/>
                <a:sym typeface="Helvetica Neue"/>
              </a:rPr>
              <a:t>Metrics (Likes/Followers/Subscribers </a:t>
            </a:r>
            <a:r>
              <a:rPr lang="en-US" sz="1200" dirty="0" err="1">
                <a:solidFill>
                  <a:schemeClr val="dk1"/>
                </a:solidFill>
                <a:latin typeface="Helvetica Neue"/>
                <a:ea typeface="Helvetica Neue"/>
                <a:cs typeface="Helvetica Neue"/>
                <a:sym typeface="Helvetica Neue"/>
              </a:rPr>
              <a:t>etc</a:t>
            </a:r>
            <a:r>
              <a:rPr lang="en-US" sz="1200" dirty="0">
                <a:solidFill>
                  <a:schemeClr val="dk1"/>
                </a:solidFill>
                <a:latin typeface="Helvetica Neue"/>
                <a:ea typeface="Helvetica Neue"/>
                <a:cs typeface="Helvetica Neue"/>
                <a:sym typeface="Helvetica Neue"/>
              </a:rPr>
              <a:t>,)</a:t>
            </a:r>
            <a:endParaRPr lang="en-US" sz="1200" dirty="0"/>
          </a:p>
          <a:p>
            <a:pPr marL="0" marR="0" lvl="0" indent="0" algn="l" rtl="0">
              <a:spcBef>
                <a:spcPts val="0"/>
              </a:spcBef>
              <a:spcAft>
                <a:spcPts val="0"/>
              </a:spcAft>
              <a:buNone/>
            </a:pPr>
            <a:endParaRPr dirty="0"/>
          </a:p>
        </p:txBody>
      </p:sp>
      <p:sp>
        <p:nvSpPr>
          <p:cNvPr id="20" name="Google Shape;102;p13">
            <a:extLst>
              <a:ext uri="{FF2B5EF4-FFF2-40B4-BE49-F238E27FC236}">
                <a16:creationId xmlns:a16="http://schemas.microsoft.com/office/drawing/2014/main" id="{6A078ACC-3A8A-92CE-E401-91A0D8367A8D}"/>
              </a:ext>
            </a:extLst>
          </p:cNvPr>
          <p:cNvSpPr/>
          <p:nvPr/>
        </p:nvSpPr>
        <p:spPr>
          <a:xfrm>
            <a:off x="821134" y="8402269"/>
            <a:ext cx="1437317"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Google Analytics</a:t>
            </a:r>
            <a:endParaRPr/>
          </a:p>
        </p:txBody>
      </p:sp>
      <p:sp>
        <p:nvSpPr>
          <p:cNvPr id="21" name="Google Shape;103;p13">
            <a:extLst>
              <a:ext uri="{FF2B5EF4-FFF2-40B4-BE49-F238E27FC236}">
                <a16:creationId xmlns:a16="http://schemas.microsoft.com/office/drawing/2014/main" id="{9FEE8C2E-CC31-6E25-E169-779B7C96F5DD}"/>
              </a:ext>
            </a:extLst>
          </p:cNvPr>
          <p:cNvSpPr/>
          <p:nvPr/>
        </p:nvSpPr>
        <p:spPr>
          <a:xfrm>
            <a:off x="1954569" y="8942585"/>
            <a:ext cx="4343400" cy="400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Setup and management</a:t>
            </a:r>
            <a:endParaRPr/>
          </a:p>
          <a:p>
            <a:pPr marL="0" marR="0" lvl="0" indent="0" algn="l" rtl="0">
              <a:spcBef>
                <a:spcPts val="0"/>
              </a:spcBef>
              <a:spcAft>
                <a:spcPts val="0"/>
              </a:spcAft>
              <a:buNone/>
            </a:pPr>
            <a:r>
              <a:rPr lang="en-US" sz="1000">
                <a:solidFill>
                  <a:schemeClr val="dk1"/>
                </a:solidFill>
                <a:latin typeface="Helvetica Neue"/>
                <a:ea typeface="Helvetica Neue"/>
                <a:cs typeface="Helvetica Neue"/>
                <a:sym typeface="Helvetica Neue"/>
              </a:rPr>
              <a:t>Fix issues and regular maintenance</a:t>
            </a:r>
            <a:endParaRPr/>
          </a:p>
        </p:txBody>
      </p:sp>
      <p:pic>
        <p:nvPicPr>
          <p:cNvPr id="23" name="Google Shape;107;p13">
            <a:extLst>
              <a:ext uri="{FF2B5EF4-FFF2-40B4-BE49-F238E27FC236}">
                <a16:creationId xmlns:a16="http://schemas.microsoft.com/office/drawing/2014/main" id="{38DA6553-0E57-D321-0100-6607263A43CE}"/>
              </a:ext>
            </a:extLst>
          </p:cNvPr>
          <p:cNvPicPr preferRelativeResize="0"/>
          <p:nvPr/>
        </p:nvPicPr>
        <p:blipFill rotWithShape="1">
          <a:blip r:embed="rId2">
            <a:alphaModFix/>
          </a:blip>
          <a:srcRect/>
          <a:stretch/>
        </p:blipFill>
        <p:spPr>
          <a:xfrm>
            <a:off x="1933124" y="7947095"/>
            <a:ext cx="207457" cy="207457"/>
          </a:xfrm>
          <a:prstGeom prst="rect">
            <a:avLst/>
          </a:prstGeom>
          <a:noFill/>
          <a:ln>
            <a:noFill/>
          </a:ln>
        </p:spPr>
      </p:pic>
    </p:spTree>
    <p:extLst>
      <p:ext uri="{BB962C8B-B14F-4D97-AF65-F5344CB8AC3E}">
        <p14:creationId xmlns:p14="http://schemas.microsoft.com/office/powerpoint/2010/main" val="3724539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04;p13">
            <a:extLst>
              <a:ext uri="{FF2B5EF4-FFF2-40B4-BE49-F238E27FC236}">
                <a16:creationId xmlns:a16="http://schemas.microsoft.com/office/drawing/2014/main" id="{133CD7D3-9DCF-1889-BD29-E94F63596E6B}"/>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Scope of work</a:t>
            </a:r>
            <a:endParaRPr/>
          </a:p>
        </p:txBody>
      </p:sp>
      <p:pic>
        <p:nvPicPr>
          <p:cNvPr id="9" name="Google Shape;105;p13">
            <a:extLst>
              <a:ext uri="{FF2B5EF4-FFF2-40B4-BE49-F238E27FC236}">
                <a16:creationId xmlns:a16="http://schemas.microsoft.com/office/drawing/2014/main" id="{F7EC299E-EE03-D19A-2AB3-FBB683AE19DB}"/>
              </a:ext>
            </a:extLst>
          </p:cNvPr>
          <p:cNvPicPr preferRelativeResize="0"/>
          <p:nvPr/>
        </p:nvPicPr>
        <p:blipFill rotWithShape="1">
          <a:blip r:embed="rId2">
            <a:alphaModFix/>
          </a:blip>
          <a:srcRect/>
          <a:stretch/>
        </p:blipFill>
        <p:spPr>
          <a:xfrm>
            <a:off x="1795635" y="2713181"/>
            <a:ext cx="207457" cy="207457"/>
          </a:xfrm>
          <a:prstGeom prst="rect">
            <a:avLst/>
          </a:prstGeom>
          <a:noFill/>
          <a:ln>
            <a:noFill/>
          </a:ln>
        </p:spPr>
      </p:pic>
      <p:sp>
        <p:nvSpPr>
          <p:cNvPr id="2" name="Google Shape;23;p6">
            <a:extLst>
              <a:ext uri="{FF2B5EF4-FFF2-40B4-BE49-F238E27FC236}">
                <a16:creationId xmlns:a16="http://schemas.microsoft.com/office/drawing/2014/main" id="{7A354D11-4888-7A9E-5A35-80D971A0393C}"/>
              </a:ext>
            </a:extLst>
          </p:cNvPr>
          <p:cNvSpPr/>
          <p:nvPr/>
        </p:nvSpPr>
        <p:spPr>
          <a:xfrm>
            <a:off x="1686331" y="6660831"/>
            <a:ext cx="4684141"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In order to build a high-performing website we need, CD+D will walk through the following process with the Paras Dairy team</a:t>
            </a:r>
            <a:r>
              <a:rPr lang="en-US" sz="1100" b="1">
                <a:solidFill>
                  <a:schemeClr val="dk1"/>
                </a:solidFill>
                <a:latin typeface="Helvetica Neue"/>
                <a:ea typeface="Helvetica Neue"/>
                <a:cs typeface="Helvetica Neue"/>
                <a:sym typeface="Helvetica Neue"/>
              </a:rPr>
              <a:t>.</a:t>
            </a:r>
            <a:endParaRPr sz="1100" b="1">
              <a:solidFill>
                <a:schemeClr val="dk1"/>
              </a:solidFill>
              <a:latin typeface="Helvetica Neue"/>
              <a:ea typeface="Helvetica Neue"/>
              <a:cs typeface="Helvetica Neue"/>
              <a:sym typeface="Helvetica Neue"/>
            </a:endParaRPr>
          </a:p>
        </p:txBody>
      </p:sp>
      <p:sp>
        <p:nvSpPr>
          <p:cNvPr id="3" name="Google Shape;24;p6">
            <a:extLst>
              <a:ext uri="{FF2B5EF4-FFF2-40B4-BE49-F238E27FC236}">
                <a16:creationId xmlns:a16="http://schemas.microsoft.com/office/drawing/2014/main" id="{AAFA6912-DF57-0A26-9B4E-4B7710E40C39}"/>
              </a:ext>
            </a:extLst>
          </p:cNvPr>
          <p:cNvSpPr/>
          <p:nvPr/>
        </p:nvSpPr>
        <p:spPr>
          <a:xfrm>
            <a:off x="1686331" y="7305401"/>
            <a:ext cx="612668"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Goals</a:t>
            </a:r>
            <a:endParaRPr/>
          </a:p>
        </p:txBody>
      </p:sp>
      <p:sp>
        <p:nvSpPr>
          <p:cNvPr id="4" name="Google Shape;25;p6">
            <a:extLst>
              <a:ext uri="{FF2B5EF4-FFF2-40B4-BE49-F238E27FC236}">
                <a16:creationId xmlns:a16="http://schemas.microsoft.com/office/drawing/2014/main" id="{167400E9-BCC9-9221-A25B-A7EED4A4512F}"/>
              </a:ext>
            </a:extLst>
          </p:cNvPr>
          <p:cNvSpPr/>
          <p:nvPr/>
        </p:nvSpPr>
        <p:spPr>
          <a:xfrm>
            <a:off x="1686331" y="7790125"/>
            <a:ext cx="4684141"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Firstly, we’ll work together to establish goals for the website and how they fit into the wider organisational goals.</a:t>
            </a:r>
            <a:endParaRPr sz="1100">
              <a:solidFill>
                <a:schemeClr val="dk1"/>
              </a:solidFill>
              <a:latin typeface="Helvetica Neue"/>
              <a:ea typeface="Helvetica Neue"/>
              <a:cs typeface="Helvetica Neue"/>
              <a:sym typeface="Helvetica Neue"/>
            </a:endParaRPr>
          </a:p>
        </p:txBody>
      </p:sp>
      <p:sp>
        <p:nvSpPr>
          <p:cNvPr id="5" name="Google Shape;26;p6">
            <a:extLst>
              <a:ext uri="{FF2B5EF4-FFF2-40B4-BE49-F238E27FC236}">
                <a16:creationId xmlns:a16="http://schemas.microsoft.com/office/drawing/2014/main" id="{60F24A80-5817-B506-18D2-49F4F4C67C58}"/>
              </a:ext>
            </a:extLst>
          </p:cNvPr>
          <p:cNvSpPr/>
          <p:nvPr/>
        </p:nvSpPr>
        <p:spPr>
          <a:xfrm>
            <a:off x="1686331" y="8428737"/>
            <a:ext cx="917239"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Discovery</a:t>
            </a:r>
            <a:endParaRPr/>
          </a:p>
        </p:txBody>
      </p:sp>
      <p:sp>
        <p:nvSpPr>
          <p:cNvPr id="6" name="Google Shape;27;p6">
            <a:extLst>
              <a:ext uri="{FF2B5EF4-FFF2-40B4-BE49-F238E27FC236}">
                <a16:creationId xmlns:a16="http://schemas.microsoft.com/office/drawing/2014/main" id="{211764AE-13BE-5EF6-E23C-BE5E0BD806C4}"/>
              </a:ext>
            </a:extLst>
          </p:cNvPr>
          <p:cNvSpPr/>
          <p:nvPr/>
        </p:nvSpPr>
        <p:spPr>
          <a:xfrm>
            <a:off x="1686331" y="8818960"/>
            <a:ext cx="4684141" cy="6001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dirty="0">
                <a:solidFill>
                  <a:schemeClr val="dk1"/>
                </a:solidFill>
                <a:latin typeface="Helvetica Neue"/>
                <a:ea typeface="Helvetica Neue"/>
                <a:cs typeface="Helvetica Neue"/>
                <a:sym typeface="Helvetica Neue"/>
              </a:rPr>
              <a:t>Once we’ve established the goals of the website, we’ll then work to identify where the opportunities lie. This can involve some or all of the following:</a:t>
            </a:r>
            <a:endParaRPr dirty="0"/>
          </a:p>
        </p:txBody>
      </p:sp>
      <p:sp>
        <p:nvSpPr>
          <p:cNvPr id="7" name="Google Shape;29;p6">
            <a:extLst>
              <a:ext uri="{FF2B5EF4-FFF2-40B4-BE49-F238E27FC236}">
                <a16:creationId xmlns:a16="http://schemas.microsoft.com/office/drawing/2014/main" id="{E9BDBD62-5D21-AE1E-350C-CF5CB48903DA}"/>
              </a:ext>
            </a:extLst>
          </p:cNvPr>
          <p:cNvSpPr/>
          <p:nvPr/>
        </p:nvSpPr>
        <p:spPr>
          <a:xfrm>
            <a:off x="533400" y="6209830"/>
            <a:ext cx="936475"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PROCESS</a:t>
            </a:r>
            <a:endParaRPr dirty="0"/>
          </a:p>
        </p:txBody>
      </p:sp>
      <p:sp>
        <p:nvSpPr>
          <p:cNvPr id="10" name="TextBox 9">
            <a:extLst>
              <a:ext uri="{FF2B5EF4-FFF2-40B4-BE49-F238E27FC236}">
                <a16:creationId xmlns:a16="http://schemas.microsoft.com/office/drawing/2014/main" id="{01A423D2-C9AD-7158-E49A-A3DFA3F14C2D}"/>
              </a:ext>
            </a:extLst>
          </p:cNvPr>
          <p:cNvSpPr txBox="1"/>
          <p:nvPr/>
        </p:nvSpPr>
        <p:spPr>
          <a:xfrm>
            <a:off x="1795635" y="3439857"/>
            <a:ext cx="4574837" cy="1938992"/>
          </a:xfrm>
          <a:prstGeom prst="rect">
            <a:avLst/>
          </a:prstGeom>
          <a:noFill/>
        </p:spPr>
        <p:txBody>
          <a:bodyPr wrap="square" rtlCol="0">
            <a:spAutoFit/>
          </a:bodyPr>
          <a:lstStyle/>
          <a:p>
            <a:r>
              <a:rPr lang="en-IN" sz="1200" dirty="0"/>
              <a:t>In today’s digital-first landscape, a brand’s website is often its most powerful touchpoint, shaping perception, trust, and engagement. For </a:t>
            </a:r>
            <a:r>
              <a:rPr lang="en-IN" sz="1200" dirty="0" err="1"/>
              <a:t>Intex</a:t>
            </a:r>
            <a:r>
              <a:rPr lang="en-IN" sz="1200" dirty="0"/>
              <a:t>, a strong, future-ready web presence is essential to stay competitive in an increasingly dynamic and cluttered market. Consumers now expect seamless navigation, intuitive design, and meaningful interactions across devices. A well-developed website not only enhances brand credibility but also drives conversions, customer retention, and long-term growth. Investing in a robust digital platform is no longer optional, it is a strategic necessity for sustained market relevance.</a:t>
            </a:r>
            <a:endParaRPr lang="en-US" sz="1200" dirty="0"/>
          </a:p>
        </p:txBody>
      </p:sp>
      <p:pic>
        <p:nvPicPr>
          <p:cNvPr id="11" name="Google Shape;105;p13">
            <a:extLst>
              <a:ext uri="{FF2B5EF4-FFF2-40B4-BE49-F238E27FC236}">
                <a16:creationId xmlns:a16="http://schemas.microsoft.com/office/drawing/2014/main" id="{ECF79037-4563-E4E8-BB04-C5B39CAA81ED}"/>
              </a:ext>
            </a:extLst>
          </p:cNvPr>
          <p:cNvPicPr preferRelativeResize="0"/>
          <p:nvPr/>
        </p:nvPicPr>
        <p:blipFill rotWithShape="1">
          <a:blip r:embed="rId2">
            <a:alphaModFix/>
          </a:blip>
          <a:srcRect/>
          <a:stretch/>
        </p:blipFill>
        <p:spPr>
          <a:xfrm>
            <a:off x="1795635" y="5690611"/>
            <a:ext cx="207457" cy="207457"/>
          </a:xfrm>
          <a:prstGeom prst="rect">
            <a:avLst/>
          </a:prstGeom>
          <a:noFill/>
          <a:ln>
            <a:noFill/>
          </a:ln>
        </p:spPr>
      </p:pic>
    </p:spTree>
    <p:extLst>
      <p:ext uri="{BB962C8B-B14F-4D97-AF65-F5344CB8AC3E}">
        <p14:creationId xmlns:p14="http://schemas.microsoft.com/office/powerpoint/2010/main" val="1928307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04;p13">
            <a:extLst>
              <a:ext uri="{FF2B5EF4-FFF2-40B4-BE49-F238E27FC236}">
                <a16:creationId xmlns:a16="http://schemas.microsoft.com/office/drawing/2014/main" id="{133CD7D3-9DCF-1889-BD29-E94F63596E6B}"/>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Scope of work</a:t>
            </a:r>
            <a:endParaRPr/>
          </a:p>
        </p:txBody>
      </p:sp>
      <p:pic>
        <p:nvPicPr>
          <p:cNvPr id="9" name="Google Shape;105;p13">
            <a:extLst>
              <a:ext uri="{FF2B5EF4-FFF2-40B4-BE49-F238E27FC236}">
                <a16:creationId xmlns:a16="http://schemas.microsoft.com/office/drawing/2014/main" id="{F7EC299E-EE03-D19A-2AB3-FBB683AE19DB}"/>
              </a:ext>
            </a:extLst>
          </p:cNvPr>
          <p:cNvPicPr preferRelativeResize="0"/>
          <p:nvPr/>
        </p:nvPicPr>
        <p:blipFill rotWithShape="1">
          <a:blip r:embed="rId2">
            <a:alphaModFix/>
          </a:blip>
          <a:srcRect/>
          <a:stretch/>
        </p:blipFill>
        <p:spPr>
          <a:xfrm>
            <a:off x="1795635" y="2713181"/>
            <a:ext cx="207457" cy="207457"/>
          </a:xfrm>
          <a:prstGeom prst="rect">
            <a:avLst/>
          </a:prstGeom>
          <a:noFill/>
          <a:ln>
            <a:noFill/>
          </a:ln>
        </p:spPr>
      </p:pic>
      <p:sp>
        <p:nvSpPr>
          <p:cNvPr id="12" name="Google Shape;35;p7">
            <a:extLst>
              <a:ext uri="{FF2B5EF4-FFF2-40B4-BE49-F238E27FC236}">
                <a16:creationId xmlns:a16="http://schemas.microsoft.com/office/drawing/2014/main" id="{CE02D5B0-5B77-AA75-6B75-FF5A626869A5}"/>
              </a:ext>
            </a:extLst>
          </p:cNvPr>
          <p:cNvSpPr/>
          <p:nvPr/>
        </p:nvSpPr>
        <p:spPr>
          <a:xfrm>
            <a:off x="1780229" y="3080593"/>
            <a:ext cx="4772969" cy="26314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b="1" dirty="0">
                <a:solidFill>
                  <a:schemeClr val="dk1"/>
                </a:solidFill>
                <a:latin typeface="Helvetica Neue"/>
                <a:ea typeface="Helvetica Neue"/>
                <a:cs typeface="Helvetica Neue"/>
                <a:sym typeface="Helvetica Neue"/>
              </a:rPr>
              <a:t>Data analysis </a:t>
            </a:r>
            <a:r>
              <a:rPr lang="en-US" sz="1100" dirty="0">
                <a:solidFill>
                  <a:schemeClr val="dk1"/>
                </a:solidFill>
                <a:latin typeface="Helvetica Neue"/>
                <a:ea typeface="Helvetica Neue"/>
                <a:cs typeface="Helvetica Neue"/>
                <a:sym typeface="Helvetica Neue"/>
              </a:rPr>
              <a:t>- We'll look at existing website data, including traffic sources, landing pages, conversion rates etc. to understand where the biggest opportunities lie for improving the existing website.</a:t>
            </a:r>
            <a:endParaRPr dirty="0"/>
          </a:p>
          <a:p>
            <a:pPr marL="0" marR="0" lvl="0" indent="0" algn="l" rtl="0">
              <a:spcBef>
                <a:spcPts val="0"/>
              </a:spcBef>
              <a:spcAft>
                <a:spcPts val="0"/>
              </a:spcAft>
              <a:buNone/>
            </a:pPr>
            <a:endParaRPr sz="1100" b="1" dirty="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b="1" dirty="0">
                <a:solidFill>
                  <a:schemeClr val="dk1"/>
                </a:solidFill>
                <a:latin typeface="Helvetica Neue"/>
                <a:ea typeface="Helvetica Neue"/>
                <a:cs typeface="Helvetica Neue"/>
                <a:sym typeface="Helvetica Neue"/>
              </a:rPr>
              <a:t>Customer interviews </a:t>
            </a:r>
            <a:r>
              <a:rPr lang="en-US" sz="1100" dirty="0">
                <a:solidFill>
                  <a:schemeClr val="dk1"/>
                </a:solidFill>
                <a:latin typeface="Helvetica Neue"/>
                <a:ea typeface="Helvetica Neue"/>
                <a:cs typeface="Helvetica Neue"/>
                <a:sym typeface="Helvetica Neue"/>
              </a:rPr>
              <a:t>- We'll conduct interviews with your customers to understand how customers use the product, what they were using previously, what problems it solves for them, etc. This will help us write copy that resonates with your audience and the products they are looking for.</a:t>
            </a:r>
            <a:endParaRPr sz="1100" b="1" dirty="0">
              <a:solidFill>
                <a:schemeClr val="dk1"/>
              </a:solidFill>
              <a:latin typeface="Helvetica Neue"/>
              <a:ea typeface="Helvetica Neue"/>
              <a:cs typeface="Helvetica Neue"/>
              <a:sym typeface="Helvetica Neue"/>
            </a:endParaRPr>
          </a:p>
          <a:p>
            <a:pPr marL="171450" marR="0" lvl="0" indent="-101600" algn="l" rtl="0">
              <a:spcBef>
                <a:spcPts val="0"/>
              </a:spcBef>
              <a:spcAft>
                <a:spcPts val="0"/>
              </a:spcAft>
              <a:buClr>
                <a:schemeClr val="dk1"/>
              </a:buClr>
              <a:buSzPts val="1100"/>
              <a:buFont typeface="Arial"/>
              <a:buNone/>
            </a:pPr>
            <a:endParaRPr sz="1100" b="1" dirty="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b="1" dirty="0">
                <a:solidFill>
                  <a:schemeClr val="dk1"/>
                </a:solidFill>
                <a:latin typeface="Helvetica Neue"/>
                <a:ea typeface="Helvetica Neue"/>
                <a:cs typeface="Helvetica Neue"/>
                <a:sym typeface="Helvetica Neue"/>
              </a:rPr>
              <a:t>Internal interviews </a:t>
            </a:r>
            <a:r>
              <a:rPr lang="en-US" sz="1100" dirty="0">
                <a:solidFill>
                  <a:schemeClr val="dk1"/>
                </a:solidFill>
                <a:latin typeface="Helvetica Neue"/>
                <a:ea typeface="Helvetica Neue"/>
                <a:cs typeface="Helvetica Neue"/>
                <a:sym typeface="Helvetica Neue"/>
              </a:rPr>
              <a:t>- We'll interview a number of internal people at Paras Dairy to understand how the wider business works and how we engage with the customer across their lifecycle. This will allow us to understand how best to convert people from a visitor to your website to a loyal customer.</a:t>
            </a:r>
            <a:endParaRPr dirty="0"/>
          </a:p>
        </p:txBody>
      </p:sp>
      <p:sp>
        <p:nvSpPr>
          <p:cNvPr id="13" name="Google Shape;38;p7">
            <a:extLst>
              <a:ext uri="{FF2B5EF4-FFF2-40B4-BE49-F238E27FC236}">
                <a16:creationId xmlns:a16="http://schemas.microsoft.com/office/drawing/2014/main" id="{33EC56B5-6A93-4D9F-E9CB-68C03B23DDCC}"/>
              </a:ext>
            </a:extLst>
          </p:cNvPr>
          <p:cNvSpPr/>
          <p:nvPr/>
        </p:nvSpPr>
        <p:spPr>
          <a:xfrm>
            <a:off x="1780230" y="6553200"/>
            <a:ext cx="4772969" cy="19543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Once we’ve completed the discovery phase, we'll then come up with an overarching strategy for your website. </a:t>
            </a:r>
            <a:endParaRPr/>
          </a:p>
          <a:p>
            <a:pPr marL="0" marR="0" lvl="0" indent="0" algn="l" rtl="0">
              <a:spcBef>
                <a:spcPts val="0"/>
              </a:spcBef>
              <a:spcAft>
                <a:spcPts val="0"/>
              </a:spcAft>
              <a:buNone/>
            </a:pP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This will include information like what pages we'll have, how navigation will work, visual style, conversion paths, etc. </a:t>
            </a:r>
            <a:endParaRPr/>
          </a:p>
          <a:p>
            <a:pPr marL="0" marR="0" lvl="0" indent="0" algn="l" rtl="0">
              <a:spcBef>
                <a:spcPts val="0"/>
              </a:spcBef>
              <a:spcAft>
                <a:spcPts val="0"/>
              </a:spcAft>
              <a:buNone/>
            </a:pP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This strategy will be driven by the insights gained from the Discovery stage, and will leverage our deep knowledge of this space and website design best practices.</a:t>
            </a:r>
            <a:endParaRPr/>
          </a:p>
          <a:p>
            <a:pPr marL="0" marR="0" lvl="0" indent="0" algn="l" rtl="0">
              <a:spcBef>
                <a:spcPts val="0"/>
              </a:spcBef>
              <a:spcAft>
                <a:spcPts val="0"/>
              </a:spcAft>
              <a:buNone/>
            </a:pP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We'll present this strategy back to you for review, iteration &amp; approval.</a:t>
            </a:r>
            <a:endParaRPr/>
          </a:p>
        </p:txBody>
      </p:sp>
      <p:sp>
        <p:nvSpPr>
          <p:cNvPr id="14" name="Google Shape;39;p7">
            <a:extLst>
              <a:ext uri="{FF2B5EF4-FFF2-40B4-BE49-F238E27FC236}">
                <a16:creationId xmlns:a16="http://schemas.microsoft.com/office/drawing/2014/main" id="{9A1CD7B5-EA75-6443-26F7-56BCC65A1257}"/>
              </a:ext>
            </a:extLst>
          </p:cNvPr>
          <p:cNvSpPr/>
          <p:nvPr/>
        </p:nvSpPr>
        <p:spPr>
          <a:xfrm>
            <a:off x="1780229" y="5994142"/>
            <a:ext cx="798617"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Strategy</a:t>
            </a:r>
            <a:endParaRPr/>
          </a:p>
        </p:txBody>
      </p:sp>
    </p:spTree>
    <p:extLst>
      <p:ext uri="{BB962C8B-B14F-4D97-AF65-F5344CB8AC3E}">
        <p14:creationId xmlns:p14="http://schemas.microsoft.com/office/powerpoint/2010/main" val="193212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04;p13">
            <a:extLst>
              <a:ext uri="{FF2B5EF4-FFF2-40B4-BE49-F238E27FC236}">
                <a16:creationId xmlns:a16="http://schemas.microsoft.com/office/drawing/2014/main" id="{133CD7D3-9DCF-1889-BD29-E94F63596E6B}"/>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Scope of work</a:t>
            </a:r>
            <a:endParaRPr/>
          </a:p>
        </p:txBody>
      </p:sp>
      <p:pic>
        <p:nvPicPr>
          <p:cNvPr id="9" name="Google Shape;105;p13">
            <a:extLst>
              <a:ext uri="{FF2B5EF4-FFF2-40B4-BE49-F238E27FC236}">
                <a16:creationId xmlns:a16="http://schemas.microsoft.com/office/drawing/2014/main" id="{F7EC299E-EE03-D19A-2AB3-FBB683AE19DB}"/>
              </a:ext>
            </a:extLst>
          </p:cNvPr>
          <p:cNvPicPr preferRelativeResize="0"/>
          <p:nvPr/>
        </p:nvPicPr>
        <p:blipFill rotWithShape="1">
          <a:blip r:embed="rId2">
            <a:alphaModFix/>
          </a:blip>
          <a:srcRect/>
          <a:stretch/>
        </p:blipFill>
        <p:spPr>
          <a:xfrm>
            <a:off x="1795635" y="2713181"/>
            <a:ext cx="207457" cy="207457"/>
          </a:xfrm>
          <a:prstGeom prst="rect">
            <a:avLst/>
          </a:prstGeom>
          <a:noFill/>
          <a:ln>
            <a:noFill/>
          </a:ln>
        </p:spPr>
      </p:pic>
      <p:sp>
        <p:nvSpPr>
          <p:cNvPr id="2" name="Google Shape;46;p8">
            <a:extLst>
              <a:ext uri="{FF2B5EF4-FFF2-40B4-BE49-F238E27FC236}">
                <a16:creationId xmlns:a16="http://schemas.microsoft.com/office/drawing/2014/main" id="{8D318993-7C6F-82D0-30F1-DE26E5F73210}"/>
              </a:ext>
            </a:extLst>
          </p:cNvPr>
          <p:cNvSpPr/>
          <p:nvPr/>
        </p:nvSpPr>
        <p:spPr>
          <a:xfrm>
            <a:off x="1766033" y="5441448"/>
            <a:ext cx="4772969" cy="144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Once the wireframe is agreed on, we'll then turn the wireframe into a</a:t>
            </a:r>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high- fidelity design that shows exactly how each page of the website will look.</a:t>
            </a:r>
            <a:endParaRPr/>
          </a:p>
          <a:p>
            <a:pPr marL="0" marR="0" lvl="0" indent="0" algn="l" rtl="0">
              <a:spcBef>
                <a:spcPts val="0"/>
              </a:spcBef>
              <a:spcAft>
                <a:spcPts val="0"/>
              </a:spcAft>
              <a:buNone/>
            </a:pP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We will present this back to you as an interactive prototype that will</a:t>
            </a:r>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allow you to click through the website and experience it as if it was live.</a:t>
            </a:r>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We'll then iterate and make any final changes in this stage before signing of and beginning development.</a:t>
            </a:r>
            <a:endParaRPr sz="1100">
              <a:solidFill>
                <a:schemeClr val="dk1"/>
              </a:solidFill>
              <a:latin typeface="Helvetica Neue"/>
              <a:ea typeface="Helvetica Neue"/>
              <a:cs typeface="Helvetica Neue"/>
              <a:sym typeface="Helvetica Neue"/>
            </a:endParaRPr>
          </a:p>
        </p:txBody>
      </p:sp>
      <p:sp>
        <p:nvSpPr>
          <p:cNvPr id="3" name="Google Shape;47;p8">
            <a:extLst>
              <a:ext uri="{FF2B5EF4-FFF2-40B4-BE49-F238E27FC236}">
                <a16:creationId xmlns:a16="http://schemas.microsoft.com/office/drawing/2014/main" id="{A351C1F8-2827-6344-FD5C-424CB0BEDB6D}"/>
              </a:ext>
            </a:extLst>
          </p:cNvPr>
          <p:cNvSpPr/>
          <p:nvPr/>
        </p:nvSpPr>
        <p:spPr>
          <a:xfrm>
            <a:off x="1766034" y="4929551"/>
            <a:ext cx="697627"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Design</a:t>
            </a:r>
            <a:endParaRPr/>
          </a:p>
        </p:txBody>
      </p:sp>
      <p:sp>
        <p:nvSpPr>
          <p:cNvPr id="4" name="Google Shape;48;p8">
            <a:extLst>
              <a:ext uri="{FF2B5EF4-FFF2-40B4-BE49-F238E27FC236}">
                <a16:creationId xmlns:a16="http://schemas.microsoft.com/office/drawing/2014/main" id="{0E39CBE8-8E40-F6DA-063C-A03BAF2C4823}"/>
              </a:ext>
            </a:extLst>
          </p:cNvPr>
          <p:cNvSpPr/>
          <p:nvPr/>
        </p:nvSpPr>
        <p:spPr>
          <a:xfrm>
            <a:off x="1766034" y="3081419"/>
            <a:ext cx="108100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Wireframing</a:t>
            </a:r>
            <a:endParaRPr dirty="0"/>
          </a:p>
        </p:txBody>
      </p:sp>
      <p:sp>
        <p:nvSpPr>
          <p:cNvPr id="5" name="Google Shape;49;p8">
            <a:extLst>
              <a:ext uri="{FF2B5EF4-FFF2-40B4-BE49-F238E27FC236}">
                <a16:creationId xmlns:a16="http://schemas.microsoft.com/office/drawing/2014/main" id="{17BCDFA1-51DA-69B1-943E-E39508C8D08D}"/>
              </a:ext>
            </a:extLst>
          </p:cNvPr>
          <p:cNvSpPr/>
          <p:nvPr/>
        </p:nvSpPr>
        <p:spPr>
          <a:xfrm>
            <a:off x="1766034" y="3593316"/>
            <a:ext cx="4772969" cy="110799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Once the strategy is agreed on, we'll then do a basic wireframe of your new website that will show the navigation, page layouts, copy, etc.</a:t>
            </a:r>
            <a:endParaRPr/>
          </a:p>
          <a:p>
            <a:pPr marL="0" marR="0" lvl="0" indent="0" algn="l" rtl="0">
              <a:spcBef>
                <a:spcPts val="0"/>
              </a:spcBef>
              <a:spcAft>
                <a:spcPts val="0"/>
              </a:spcAft>
              <a:buNone/>
            </a:pP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This will allow you to understand how the site will look and what messages will be conveyed, and will allow us to iterate quickly until everyone is aligned.</a:t>
            </a:r>
            <a:endParaRPr/>
          </a:p>
        </p:txBody>
      </p:sp>
      <p:sp>
        <p:nvSpPr>
          <p:cNvPr id="6" name="Google Shape;50;p8">
            <a:extLst>
              <a:ext uri="{FF2B5EF4-FFF2-40B4-BE49-F238E27FC236}">
                <a16:creationId xmlns:a16="http://schemas.microsoft.com/office/drawing/2014/main" id="{61526605-9D41-4C51-CA84-0BA1E3BA0D3C}"/>
              </a:ext>
            </a:extLst>
          </p:cNvPr>
          <p:cNvSpPr/>
          <p:nvPr/>
        </p:nvSpPr>
        <p:spPr>
          <a:xfrm>
            <a:off x="1766033" y="7653174"/>
            <a:ext cx="4772970"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Once the design has been agree on and signed off, we'll then develop the website on the core PHP, developing CMS limited to news, blog and career sections. We use bootstrap design for better UI/UX and thus refrain ourself from using any specific CMS. </a:t>
            </a:r>
            <a:endParaRPr/>
          </a:p>
        </p:txBody>
      </p:sp>
      <p:sp>
        <p:nvSpPr>
          <p:cNvPr id="7" name="Google Shape;51;p8">
            <a:extLst>
              <a:ext uri="{FF2B5EF4-FFF2-40B4-BE49-F238E27FC236}">
                <a16:creationId xmlns:a16="http://schemas.microsoft.com/office/drawing/2014/main" id="{B74E5864-EB41-17A7-CE4B-23EDB4646C37}"/>
              </a:ext>
            </a:extLst>
          </p:cNvPr>
          <p:cNvSpPr/>
          <p:nvPr/>
        </p:nvSpPr>
        <p:spPr>
          <a:xfrm>
            <a:off x="1766033" y="7131483"/>
            <a:ext cx="1149674"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Development</a:t>
            </a:r>
            <a:endParaRPr/>
          </a:p>
        </p:txBody>
      </p:sp>
    </p:spTree>
    <p:extLst>
      <p:ext uri="{BB962C8B-B14F-4D97-AF65-F5344CB8AC3E}">
        <p14:creationId xmlns:p14="http://schemas.microsoft.com/office/powerpoint/2010/main" val="3012960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04;p13">
            <a:extLst>
              <a:ext uri="{FF2B5EF4-FFF2-40B4-BE49-F238E27FC236}">
                <a16:creationId xmlns:a16="http://schemas.microsoft.com/office/drawing/2014/main" id="{133CD7D3-9DCF-1889-BD29-E94F63596E6B}"/>
              </a:ext>
            </a:extLst>
          </p:cNvPr>
          <p:cNvSpPr/>
          <p:nvPr/>
        </p:nvSpPr>
        <p:spPr>
          <a:xfrm>
            <a:off x="533400" y="2062582"/>
            <a:ext cx="151836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Helvetica Neue"/>
                <a:ea typeface="Helvetica Neue"/>
                <a:cs typeface="Helvetica Neue"/>
                <a:sym typeface="Helvetica Neue"/>
              </a:rPr>
              <a:t>Scope of work</a:t>
            </a:r>
            <a:endParaRPr/>
          </a:p>
        </p:txBody>
      </p:sp>
      <p:pic>
        <p:nvPicPr>
          <p:cNvPr id="9" name="Google Shape;105;p13">
            <a:extLst>
              <a:ext uri="{FF2B5EF4-FFF2-40B4-BE49-F238E27FC236}">
                <a16:creationId xmlns:a16="http://schemas.microsoft.com/office/drawing/2014/main" id="{F7EC299E-EE03-D19A-2AB3-FBB683AE19DB}"/>
              </a:ext>
            </a:extLst>
          </p:cNvPr>
          <p:cNvPicPr preferRelativeResize="0"/>
          <p:nvPr/>
        </p:nvPicPr>
        <p:blipFill rotWithShape="1">
          <a:blip r:embed="rId2">
            <a:alphaModFix/>
          </a:blip>
          <a:srcRect/>
          <a:stretch/>
        </p:blipFill>
        <p:spPr>
          <a:xfrm>
            <a:off x="1795635" y="2713181"/>
            <a:ext cx="207457" cy="207457"/>
          </a:xfrm>
          <a:prstGeom prst="rect">
            <a:avLst/>
          </a:prstGeom>
          <a:noFill/>
          <a:ln>
            <a:noFill/>
          </a:ln>
        </p:spPr>
      </p:pic>
      <p:sp>
        <p:nvSpPr>
          <p:cNvPr id="2" name="Google Shape;58;p9">
            <a:extLst>
              <a:ext uri="{FF2B5EF4-FFF2-40B4-BE49-F238E27FC236}">
                <a16:creationId xmlns:a16="http://schemas.microsoft.com/office/drawing/2014/main" id="{083920E0-68EF-FAB1-AB72-98DBDB0238B5}"/>
              </a:ext>
            </a:extLst>
          </p:cNvPr>
          <p:cNvSpPr/>
          <p:nvPr/>
        </p:nvSpPr>
        <p:spPr>
          <a:xfrm>
            <a:off x="1780229" y="3080738"/>
            <a:ext cx="222689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Signoff, launch and training</a:t>
            </a:r>
            <a:endParaRPr dirty="0"/>
          </a:p>
        </p:txBody>
      </p:sp>
      <p:sp>
        <p:nvSpPr>
          <p:cNvPr id="3" name="Google Shape;59;p9">
            <a:extLst>
              <a:ext uri="{FF2B5EF4-FFF2-40B4-BE49-F238E27FC236}">
                <a16:creationId xmlns:a16="http://schemas.microsoft.com/office/drawing/2014/main" id="{1FC8A333-6B4A-E02B-7545-A26D881E14A1}"/>
              </a:ext>
            </a:extLst>
          </p:cNvPr>
          <p:cNvSpPr/>
          <p:nvPr/>
        </p:nvSpPr>
        <p:spPr>
          <a:xfrm>
            <a:off x="1780229" y="3580913"/>
            <a:ext cx="4772969" cy="127727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Once the website is built, we'll jump on a video call and walk you through</a:t>
            </a:r>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the new website. Once you've signed off on it, we'll push it live at parasdairy.com and archive your old website in case you need anything from it.</a:t>
            </a:r>
            <a:endParaRPr/>
          </a:p>
          <a:p>
            <a:pPr marL="0" marR="0" lvl="0" indent="0" algn="l" rtl="0">
              <a:spcBef>
                <a:spcPts val="0"/>
              </a:spcBef>
              <a:spcAft>
                <a:spcPts val="0"/>
              </a:spcAft>
              <a:buNone/>
            </a:pPr>
            <a:endParaRPr sz="11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Finally, we'll do a basic training session with your marketing team so they</a:t>
            </a:r>
            <a:endParaRPr/>
          </a:p>
          <a:p>
            <a:pPr marL="0" marR="0" lvl="0" indent="0" algn="l" rtl="0">
              <a:spcBef>
                <a:spcPts val="0"/>
              </a:spcBef>
              <a:spcAft>
                <a:spcPts val="0"/>
              </a:spcAft>
              <a:buNone/>
            </a:pPr>
            <a:r>
              <a:rPr lang="en-US" sz="1100">
                <a:solidFill>
                  <a:schemeClr val="dk1"/>
                </a:solidFill>
                <a:latin typeface="Helvetica Neue"/>
                <a:ea typeface="Helvetica Neue"/>
                <a:cs typeface="Helvetica Neue"/>
                <a:sym typeface="Helvetica Neue"/>
              </a:rPr>
              <a:t>understand how to edit the website when they need.</a:t>
            </a:r>
            <a:endParaRPr sz="1100">
              <a:solidFill>
                <a:schemeClr val="dk1"/>
              </a:solidFill>
              <a:latin typeface="Helvetica Neue"/>
              <a:ea typeface="Helvetica Neue"/>
              <a:cs typeface="Helvetica Neue"/>
              <a:sym typeface="Helvetica Neue"/>
            </a:endParaRPr>
          </a:p>
        </p:txBody>
      </p:sp>
      <p:sp>
        <p:nvSpPr>
          <p:cNvPr id="4" name="Google Shape;60;p9">
            <a:extLst>
              <a:ext uri="{FF2B5EF4-FFF2-40B4-BE49-F238E27FC236}">
                <a16:creationId xmlns:a16="http://schemas.microsoft.com/office/drawing/2014/main" id="{089799C8-18F3-F040-6BB1-BAE65E6D6608}"/>
              </a:ext>
            </a:extLst>
          </p:cNvPr>
          <p:cNvSpPr/>
          <p:nvPr/>
        </p:nvSpPr>
        <p:spPr>
          <a:xfrm>
            <a:off x="914400" y="5541183"/>
            <a:ext cx="137249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Helvetica Neue"/>
                <a:ea typeface="Helvetica Neue"/>
                <a:cs typeface="Helvetica Neue"/>
                <a:sym typeface="Helvetica Neue"/>
              </a:rPr>
              <a:t>DELIVERABLES</a:t>
            </a:r>
            <a:endParaRPr/>
          </a:p>
        </p:txBody>
      </p:sp>
      <p:pic>
        <p:nvPicPr>
          <p:cNvPr id="5" name="Google Shape;61;p9">
            <a:extLst>
              <a:ext uri="{FF2B5EF4-FFF2-40B4-BE49-F238E27FC236}">
                <a16:creationId xmlns:a16="http://schemas.microsoft.com/office/drawing/2014/main" id="{829361FD-E10D-2A41-7F0A-8643055D6C87}"/>
              </a:ext>
            </a:extLst>
          </p:cNvPr>
          <p:cNvPicPr preferRelativeResize="0"/>
          <p:nvPr/>
        </p:nvPicPr>
        <p:blipFill rotWithShape="1">
          <a:blip r:embed="rId2">
            <a:alphaModFix/>
          </a:blip>
          <a:srcRect/>
          <a:stretch/>
        </p:blipFill>
        <p:spPr>
          <a:xfrm>
            <a:off x="1780231" y="5112549"/>
            <a:ext cx="207457" cy="207457"/>
          </a:xfrm>
          <a:prstGeom prst="rect">
            <a:avLst/>
          </a:prstGeom>
          <a:noFill/>
          <a:ln>
            <a:noFill/>
          </a:ln>
        </p:spPr>
      </p:pic>
      <p:sp>
        <p:nvSpPr>
          <p:cNvPr id="6" name="Google Shape;62;p9">
            <a:extLst>
              <a:ext uri="{FF2B5EF4-FFF2-40B4-BE49-F238E27FC236}">
                <a16:creationId xmlns:a16="http://schemas.microsoft.com/office/drawing/2014/main" id="{71C23466-5431-009B-4B86-F49E45502695}"/>
              </a:ext>
            </a:extLst>
          </p:cNvPr>
          <p:cNvSpPr/>
          <p:nvPr/>
        </p:nvSpPr>
        <p:spPr>
          <a:xfrm>
            <a:off x="1780229" y="6057424"/>
            <a:ext cx="4772969" cy="2462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dirty="0">
                <a:solidFill>
                  <a:schemeClr val="dk1"/>
                </a:solidFill>
                <a:latin typeface="Helvetica Neue"/>
                <a:ea typeface="Helvetica Neue"/>
                <a:cs typeface="Helvetica Neue"/>
                <a:sym typeface="Helvetica Neue"/>
              </a:rPr>
              <a:t>As outlined in the Process section, CC will be responsible for</a:t>
            </a:r>
            <a:endParaRPr dirty="0"/>
          </a:p>
          <a:p>
            <a:pPr marL="0" marR="0" lvl="0" indent="0" algn="l" rtl="0">
              <a:spcBef>
                <a:spcPts val="0"/>
              </a:spcBef>
              <a:spcAft>
                <a:spcPts val="0"/>
              </a:spcAft>
              <a:buNone/>
            </a:pPr>
            <a:r>
              <a:rPr lang="en-US" sz="1100" dirty="0">
                <a:solidFill>
                  <a:schemeClr val="dk1"/>
                </a:solidFill>
                <a:latin typeface="Helvetica Neue"/>
                <a:ea typeface="Helvetica Neue"/>
                <a:cs typeface="Helvetica Neue"/>
                <a:sym typeface="Helvetica Neue"/>
              </a:rPr>
              <a:t>delivering the following:</a:t>
            </a:r>
            <a:endParaRPr dirty="0"/>
          </a:p>
          <a:p>
            <a:pPr marL="0" marR="0" lvl="0" indent="0" algn="l" rtl="0">
              <a:spcBef>
                <a:spcPts val="0"/>
              </a:spcBef>
              <a:spcAft>
                <a:spcPts val="0"/>
              </a:spcAft>
              <a:buNone/>
            </a:pPr>
            <a:endParaRPr sz="1100" dirty="0">
              <a:solidFill>
                <a:schemeClr val="dk1"/>
              </a:solidFill>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Helvetica Neue"/>
                <a:ea typeface="Helvetica Neue"/>
                <a:cs typeface="Helvetica Neue"/>
                <a:sym typeface="Helvetica Neue"/>
              </a:rPr>
              <a:t>Website strategy document that outlines navigation, key pages, visual</a:t>
            </a:r>
            <a:endParaRPr dirty="0"/>
          </a:p>
          <a:p>
            <a:pPr marL="0" marR="0" lvl="0" indent="0" algn="l" rtl="0">
              <a:spcBef>
                <a:spcPts val="0"/>
              </a:spcBef>
              <a:spcAft>
                <a:spcPts val="0"/>
              </a:spcAft>
              <a:buNone/>
            </a:pPr>
            <a:r>
              <a:rPr lang="en-US" sz="1100" dirty="0">
                <a:solidFill>
                  <a:schemeClr val="dk1"/>
                </a:solidFill>
                <a:latin typeface="Helvetica Neue"/>
                <a:ea typeface="Helvetica Neue"/>
                <a:cs typeface="Helvetica Neue"/>
                <a:sym typeface="Helvetica Neue"/>
              </a:rPr>
              <a:t>     style, etc.</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Helvetica Neue"/>
                <a:ea typeface="Helvetica Neue"/>
                <a:cs typeface="Helvetica Neue"/>
                <a:sym typeface="Helvetica Neue"/>
              </a:rPr>
              <a:t>Wireframes for the new website to be reviewed, iterated and agreed</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Helvetica Neue"/>
                <a:ea typeface="Helvetica Neue"/>
                <a:cs typeface="Helvetica Neue"/>
                <a:sym typeface="Helvetica Neue"/>
              </a:rPr>
              <a:t>Full designs for the new website to be reviewed, iterated and agreed</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Helvetica Neue"/>
                <a:ea typeface="Helvetica Neue"/>
                <a:cs typeface="Helvetica Neue"/>
                <a:sym typeface="Helvetica Neue"/>
              </a:rPr>
              <a:t>Final, mobile-responsive website live at </a:t>
            </a:r>
            <a:r>
              <a:rPr lang="en-US" sz="1100" dirty="0" err="1">
                <a:solidFill>
                  <a:schemeClr val="dk1"/>
                </a:solidFill>
                <a:latin typeface="Helvetica Neue"/>
                <a:ea typeface="Helvetica Neue"/>
                <a:cs typeface="Helvetica Neue"/>
                <a:sym typeface="Helvetica Neue"/>
              </a:rPr>
              <a:t>parasdairy.com</a:t>
            </a:r>
            <a:endParaRPr dirty="0"/>
          </a:p>
          <a:p>
            <a:pPr marL="0" marR="0" lvl="0" indent="0" algn="l" rtl="0">
              <a:spcBef>
                <a:spcPts val="0"/>
              </a:spcBef>
              <a:spcAft>
                <a:spcPts val="0"/>
              </a:spcAft>
              <a:buNone/>
            </a:pPr>
            <a:endParaRPr sz="1100" dirty="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100" dirty="0">
                <a:solidFill>
                  <a:schemeClr val="dk1"/>
                </a:solidFill>
                <a:latin typeface="Helvetica Neue"/>
                <a:ea typeface="Helvetica Neue"/>
                <a:cs typeface="Helvetica Neue"/>
                <a:sym typeface="Helvetica Neue"/>
              </a:rPr>
              <a:t>It's also worth noting what is outside the scope of this project:</a:t>
            </a:r>
            <a:endParaRPr dirty="0"/>
          </a:p>
          <a:p>
            <a:pPr marL="0" marR="0" lvl="0" indent="0" algn="l" rtl="0">
              <a:spcBef>
                <a:spcPts val="0"/>
              </a:spcBef>
              <a:spcAft>
                <a:spcPts val="0"/>
              </a:spcAft>
              <a:buNone/>
            </a:pPr>
            <a:endParaRPr sz="1100" dirty="0">
              <a:solidFill>
                <a:schemeClr val="dk1"/>
              </a:solidFill>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100"/>
              <a:buFont typeface="Arial"/>
              <a:buChar char="•"/>
            </a:pPr>
            <a:r>
              <a:rPr lang="en-US" sz="1100" dirty="0" err="1">
                <a:solidFill>
                  <a:schemeClr val="dk1"/>
                </a:solidFill>
                <a:latin typeface="Helvetica Neue"/>
                <a:ea typeface="Helvetica Neue"/>
                <a:cs typeface="Helvetica Neue"/>
                <a:sym typeface="Helvetica Neue"/>
              </a:rPr>
              <a:t>Optimisation</a:t>
            </a:r>
            <a:r>
              <a:rPr lang="en-US" sz="1100" dirty="0">
                <a:solidFill>
                  <a:schemeClr val="dk1"/>
                </a:solidFill>
                <a:latin typeface="Helvetica Neue"/>
                <a:ea typeface="Helvetica Neue"/>
                <a:cs typeface="Helvetica Neue"/>
                <a:sym typeface="Helvetica Neue"/>
              </a:rPr>
              <a:t> for Search Engines.</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Helvetica Neue"/>
                <a:ea typeface="Helvetica Neue"/>
                <a:cs typeface="Helvetica Neue"/>
                <a:sym typeface="Helvetica Neue"/>
              </a:rPr>
              <a:t>Submission to Search Engines.</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Helvetica Neue"/>
                <a:ea typeface="Helvetica Neue"/>
                <a:cs typeface="Helvetica Neue"/>
                <a:sym typeface="Helvetica Neue"/>
              </a:rPr>
              <a:t>Design of other branding assets such as logos.</a:t>
            </a:r>
            <a:endParaRPr sz="1100" dirty="0">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6716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7;p10">
            <a:extLst>
              <a:ext uri="{FF2B5EF4-FFF2-40B4-BE49-F238E27FC236}">
                <a16:creationId xmlns:a16="http://schemas.microsoft.com/office/drawing/2014/main" id="{FAF2D859-4798-063E-E5A4-F072013E8749}"/>
              </a:ext>
            </a:extLst>
          </p:cNvPr>
          <p:cNvSpPr/>
          <p:nvPr/>
        </p:nvSpPr>
        <p:spPr>
          <a:xfrm>
            <a:off x="381000" y="2175746"/>
            <a:ext cx="2804160" cy="2964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Commercials</a:t>
            </a:r>
            <a:endParaRPr dirty="0"/>
          </a:p>
        </p:txBody>
      </p:sp>
      <p:pic>
        <p:nvPicPr>
          <p:cNvPr id="3" name="Google Shape;68;p10">
            <a:extLst>
              <a:ext uri="{FF2B5EF4-FFF2-40B4-BE49-F238E27FC236}">
                <a16:creationId xmlns:a16="http://schemas.microsoft.com/office/drawing/2014/main" id="{A70FAE27-3602-EA62-AF03-534BFE0865E9}"/>
              </a:ext>
            </a:extLst>
          </p:cNvPr>
          <p:cNvPicPr preferRelativeResize="0"/>
          <p:nvPr/>
        </p:nvPicPr>
        <p:blipFill rotWithShape="1">
          <a:blip r:embed="rId2">
            <a:alphaModFix/>
          </a:blip>
          <a:srcRect/>
          <a:stretch/>
        </p:blipFill>
        <p:spPr>
          <a:xfrm>
            <a:off x="1771650" y="2762234"/>
            <a:ext cx="171450" cy="171450"/>
          </a:xfrm>
          <a:prstGeom prst="rect">
            <a:avLst/>
          </a:prstGeom>
          <a:noFill/>
          <a:ln>
            <a:noFill/>
          </a:ln>
        </p:spPr>
      </p:pic>
      <p:sp>
        <p:nvSpPr>
          <p:cNvPr id="4" name="Google Shape;69;p10">
            <a:extLst>
              <a:ext uri="{FF2B5EF4-FFF2-40B4-BE49-F238E27FC236}">
                <a16:creationId xmlns:a16="http://schemas.microsoft.com/office/drawing/2014/main" id="{0645E77F-3A54-C199-34D5-DA3010C2999D}"/>
              </a:ext>
            </a:extLst>
          </p:cNvPr>
          <p:cNvSpPr/>
          <p:nvPr/>
        </p:nvSpPr>
        <p:spPr>
          <a:xfrm>
            <a:off x="685800" y="3240357"/>
            <a:ext cx="510540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Retainer Cost</a:t>
            </a:r>
            <a:endParaRPr dirty="0"/>
          </a:p>
        </p:txBody>
      </p:sp>
      <p:sp>
        <p:nvSpPr>
          <p:cNvPr id="5" name="Google Shape;70;p10">
            <a:extLst>
              <a:ext uri="{FF2B5EF4-FFF2-40B4-BE49-F238E27FC236}">
                <a16:creationId xmlns:a16="http://schemas.microsoft.com/office/drawing/2014/main" id="{AE68ED53-E9B6-FA22-7B4A-68131C1206AF}"/>
              </a:ext>
            </a:extLst>
          </p:cNvPr>
          <p:cNvSpPr/>
          <p:nvPr/>
        </p:nvSpPr>
        <p:spPr>
          <a:xfrm>
            <a:off x="1771649" y="3642919"/>
            <a:ext cx="5526925" cy="5335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b="1" dirty="0">
                <a:solidFill>
                  <a:schemeClr val="dk1"/>
                </a:solidFill>
                <a:latin typeface="Helvetica Neue"/>
                <a:ea typeface="Helvetica Neue"/>
                <a:cs typeface="Helvetica Neue"/>
                <a:sym typeface="Helvetica Neue"/>
              </a:rPr>
              <a:t>RS. </a:t>
            </a:r>
            <a:r>
              <a:rPr lang="en-US" sz="1100" b="1" dirty="0" err="1">
                <a:solidFill>
                  <a:schemeClr val="dk1"/>
                </a:solidFill>
                <a:latin typeface="Helvetica Neue"/>
                <a:ea typeface="Helvetica Neue"/>
                <a:cs typeface="Helvetica Neue"/>
                <a:sym typeface="Helvetica Neue"/>
              </a:rPr>
              <a:t>xxxx</a:t>
            </a:r>
            <a:r>
              <a:rPr lang="en-US" sz="700" i="1" dirty="0" err="1">
                <a:solidFill>
                  <a:schemeClr val="dk1"/>
                </a:solidFill>
                <a:latin typeface="Helvetica Neue"/>
                <a:ea typeface="Helvetica Neue"/>
                <a:cs typeface="Helvetica Neue"/>
                <a:sym typeface="Helvetica Neue"/>
              </a:rPr>
              <a:t>For</a:t>
            </a:r>
            <a:r>
              <a:rPr lang="en-US" sz="700" i="1" dirty="0">
                <a:solidFill>
                  <a:schemeClr val="dk1"/>
                </a:solidFill>
                <a:latin typeface="Helvetica Neue"/>
                <a:ea typeface="Helvetica Neue"/>
                <a:cs typeface="Helvetica Neue"/>
                <a:sym typeface="Helvetica Neue"/>
              </a:rPr>
              <a:t> website: Final Quote will be post final scope discussion) </a:t>
            </a:r>
            <a:endParaRPr sz="700" i="1" dirty="0"/>
          </a:p>
        </p:txBody>
      </p:sp>
      <p:sp>
        <p:nvSpPr>
          <p:cNvPr id="6" name="Google Shape;72;p10">
            <a:extLst>
              <a:ext uri="{FF2B5EF4-FFF2-40B4-BE49-F238E27FC236}">
                <a16:creationId xmlns:a16="http://schemas.microsoft.com/office/drawing/2014/main" id="{F18F7992-116B-7968-0C65-BBD739336EEF}"/>
              </a:ext>
            </a:extLst>
          </p:cNvPr>
          <p:cNvSpPr/>
          <p:nvPr/>
        </p:nvSpPr>
        <p:spPr>
          <a:xfrm>
            <a:off x="685800" y="4321668"/>
            <a:ext cx="2000250"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Helvetica Neue"/>
                <a:ea typeface="Helvetica Neue"/>
                <a:cs typeface="Helvetica Neue"/>
                <a:sym typeface="Helvetica Neue"/>
              </a:rPr>
              <a:t>MODE OF PAYMENT</a:t>
            </a:r>
            <a:endParaRPr dirty="0"/>
          </a:p>
        </p:txBody>
      </p:sp>
      <p:sp>
        <p:nvSpPr>
          <p:cNvPr id="7" name="Google Shape;73;p10">
            <a:extLst>
              <a:ext uri="{FF2B5EF4-FFF2-40B4-BE49-F238E27FC236}">
                <a16:creationId xmlns:a16="http://schemas.microsoft.com/office/drawing/2014/main" id="{5FFC65DC-A5D2-16EC-045F-564DAAAA4176}"/>
              </a:ext>
            </a:extLst>
          </p:cNvPr>
          <p:cNvSpPr/>
          <p:nvPr/>
        </p:nvSpPr>
        <p:spPr>
          <a:xfrm>
            <a:off x="1771650" y="4760179"/>
            <a:ext cx="4572000" cy="2616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dirty="0">
                <a:solidFill>
                  <a:schemeClr val="dk1"/>
                </a:solidFill>
                <a:latin typeface="Helvetica Neue"/>
                <a:ea typeface="Helvetica Neue"/>
                <a:cs typeface="Helvetica Neue"/>
                <a:sym typeface="Helvetica Neue"/>
              </a:rPr>
              <a:t>Monthly Advance</a:t>
            </a:r>
            <a:endParaRPr dirty="0"/>
          </a:p>
        </p:txBody>
      </p:sp>
      <p:sp>
        <p:nvSpPr>
          <p:cNvPr id="10" name="Google Shape;75;p10">
            <a:extLst>
              <a:ext uri="{FF2B5EF4-FFF2-40B4-BE49-F238E27FC236}">
                <a16:creationId xmlns:a16="http://schemas.microsoft.com/office/drawing/2014/main" id="{CF197CA8-7250-3251-A5B2-1F3F06CD8F23}"/>
              </a:ext>
            </a:extLst>
          </p:cNvPr>
          <p:cNvSpPr/>
          <p:nvPr/>
        </p:nvSpPr>
        <p:spPr>
          <a:xfrm>
            <a:off x="1685925" y="6356787"/>
            <a:ext cx="4800600" cy="3484443"/>
          </a:xfrm>
          <a:prstGeom prst="rect">
            <a:avLst/>
          </a:prstGeom>
          <a:noFill/>
          <a:ln>
            <a:noFill/>
          </a:ln>
        </p:spPr>
        <p:txBody>
          <a:bodyPr spcFirstLastPara="1" wrap="square" lIns="91425" tIns="45700" rIns="91425" bIns="45700" anchor="t" anchorCtr="0">
            <a:noAutofit/>
          </a:bodyPr>
          <a:lstStyle/>
          <a:p>
            <a:pPr marL="184150" marR="5080" indent="-171450">
              <a:lnSpc>
                <a:spcPct val="143800"/>
              </a:lnSpc>
              <a:spcBef>
                <a:spcPts val="100"/>
              </a:spcBef>
              <a:buFont typeface="Arial" panose="020B0604020202020204" pitchFamily="34" charset="0"/>
              <a:buChar char="•"/>
              <a:tabLst>
                <a:tab pos="241300" algn="l"/>
              </a:tabLst>
            </a:pPr>
            <a:r>
              <a:rPr lang="en-IN" sz="1000" spc="-10" dirty="0">
                <a:latin typeface="Lucida Sans Unicode"/>
                <a:cs typeface="Lucida Sans Unicode"/>
              </a:rPr>
              <a:t>The</a:t>
            </a:r>
            <a:r>
              <a:rPr lang="en-IN" sz="1000" spc="35" dirty="0">
                <a:latin typeface="Lucida Sans Unicode"/>
                <a:cs typeface="Lucida Sans Unicode"/>
              </a:rPr>
              <a:t> </a:t>
            </a:r>
            <a:r>
              <a:rPr lang="en-IN" sz="1000" dirty="0">
                <a:latin typeface="Lucida Sans Unicode"/>
                <a:cs typeface="Lucida Sans Unicode"/>
              </a:rPr>
              <a:t>commercials</a:t>
            </a:r>
            <a:r>
              <a:rPr lang="en-IN" sz="1000" spc="40" dirty="0">
                <a:latin typeface="Lucida Sans Unicode"/>
                <a:cs typeface="Lucida Sans Unicode"/>
              </a:rPr>
              <a:t> </a:t>
            </a:r>
            <a:r>
              <a:rPr lang="en-IN" sz="1000" dirty="0">
                <a:latin typeface="Lucida Sans Unicode"/>
                <a:cs typeface="Lucida Sans Unicode"/>
              </a:rPr>
              <a:t>do</a:t>
            </a:r>
            <a:r>
              <a:rPr lang="en-IN" sz="1000" spc="40" dirty="0">
                <a:latin typeface="Lucida Sans Unicode"/>
                <a:cs typeface="Lucida Sans Unicode"/>
              </a:rPr>
              <a:t> </a:t>
            </a:r>
            <a:r>
              <a:rPr lang="en-IN" sz="1000" dirty="0">
                <a:latin typeface="Lucida Sans Unicode"/>
                <a:cs typeface="Lucida Sans Unicode"/>
              </a:rPr>
              <a:t>not</a:t>
            </a:r>
            <a:r>
              <a:rPr lang="en-IN" sz="1000" spc="40" dirty="0">
                <a:latin typeface="Lucida Sans Unicode"/>
                <a:cs typeface="Lucida Sans Unicode"/>
              </a:rPr>
              <a:t> </a:t>
            </a:r>
            <a:r>
              <a:rPr lang="en-IN" sz="1000" dirty="0">
                <a:latin typeface="Lucida Sans Unicode"/>
                <a:cs typeface="Lucida Sans Unicode"/>
              </a:rPr>
              <a:t>include</a:t>
            </a:r>
            <a:r>
              <a:rPr lang="en-IN" sz="1000" spc="35" dirty="0">
                <a:latin typeface="Lucida Sans Unicode"/>
                <a:cs typeface="Lucida Sans Unicode"/>
              </a:rPr>
              <a:t> </a:t>
            </a:r>
            <a:r>
              <a:rPr lang="en-IN" sz="1000" spc="-25" dirty="0">
                <a:latin typeface="Lucida Sans Unicode"/>
                <a:cs typeface="Lucida Sans Unicode"/>
              </a:rPr>
              <a:t>third-</a:t>
            </a:r>
            <a:r>
              <a:rPr lang="en-IN" sz="1000" dirty="0">
                <a:latin typeface="Lucida Sans Unicode"/>
                <a:cs typeface="Lucida Sans Unicode"/>
              </a:rPr>
              <a:t>party</a:t>
            </a:r>
            <a:r>
              <a:rPr lang="en-IN" sz="1000" spc="40" dirty="0">
                <a:latin typeface="Lucida Sans Unicode"/>
                <a:cs typeface="Lucida Sans Unicode"/>
              </a:rPr>
              <a:t> </a:t>
            </a:r>
            <a:r>
              <a:rPr lang="en-IN" sz="1000" dirty="0">
                <a:latin typeface="Lucida Sans Unicode"/>
                <a:cs typeface="Lucida Sans Unicode"/>
              </a:rPr>
              <a:t>costs</a:t>
            </a:r>
            <a:r>
              <a:rPr lang="en-IN" sz="1000" spc="40" dirty="0">
                <a:latin typeface="Lucida Sans Unicode"/>
                <a:cs typeface="Lucida Sans Unicode"/>
              </a:rPr>
              <a:t> </a:t>
            </a:r>
            <a:r>
              <a:rPr lang="en-IN" sz="1000" dirty="0">
                <a:latin typeface="Lucida Sans Unicode"/>
                <a:cs typeface="Lucida Sans Unicode"/>
              </a:rPr>
              <a:t>such</a:t>
            </a:r>
            <a:r>
              <a:rPr lang="en-IN" sz="1000" spc="40" dirty="0">
                <a:latin typeface="Lucida Sans Unicode"/>
                <a:cs typeface="Lucida Sans Unicode"/>
              </a:rPr>
              <a:t> </a:t>
            </a:r>
            <a:r>
              <a:rPr lang="en-IN" sz="1000" spc="60" dirty="0">
                <a:latin typeface="Lucida Sans Unicode"/>
                <a:cs typeface="Lucida Sans Unicode"/>
              </a:rPr>
              <a:t>as</a:t>
            </a:r>
            <a:r>
              <a:rPr lang="en-IN" sz="1000" spc="40" dirty="0">
                <a:latin typeface="Lucida Sans Unicode"/>
                <a:cs typeface="Lucida Sans Unicode"/>
              </a:rPr>
              <a:t> </a:t>
            </a:r>
            <a:r>
              <a:rPr lang="en-IN" sz="1000" spc="-35" dirty="0">
                <a:latin typeface="Lucida Sans Unicode"/>
                <a:cs typeface="Lucida Sans Unicode"/>
              </a:rPr>
              <a:t>AI</a:t>
            </a:r>
            <a:r>
              <a:rPr lang="en-IN" sz="1000" spc="35" dirty="0">
                <a:latin typeface="Lucida Sans Unicode"/>
                <a:cs typeface="Lucida Sans Unicode"/>
              </a:rPr>
              <a:t> </a:t>
            </a:r>
            <a:r>
              <a:rPr lang="en-IN" sz="1000" spc="-10" dirty="0">
                <a:latin typeface="Lucida Sans Unicode"/>
                <a:cs typeface="Lucida Sans Unicode"/>
              </a:rPr>
              <a:t>Licenses,</a:t>
            </a:r>
            <a:r>
              <a:rPr lang="en-IN" sz="1000" spc="40" dirty="0">
                <a:latin typeface="Lucida Sans Unicode"/>
                <a:cs typeface="Lucida Sans Unicode"/>
              </a:rPr>
              <a:t> </a:t>
            </a:r>
            <a:r>
              <a:rPr lang="en-IN" sz="1000" spc="-10" dirty="0">
                <a:latin typeface="Lucida Sans Unicode"/>
                <a:cs typeface="Lucida Sans Unicode"/>
              </a:rPr>
              <a:t>purchasing 	</a:t>
            </a:r>
            <a:r>
              <a:rPr lang="en-IN" sz="1000" dirty="0">
                <a:latin typeface="Lucida Sans Unicode"/>
                <a:cs typeface="Lucida Sans Unicode"/>
              </a:rPr>
              <a:t>images</a:t>
            </a:r>
            <a:r>
              <a:rPr lang="en-IN" sz="1000" spc="5" dirty="0">
                <a:latin typeface="Lucida Sans Unicode"/>
                <a:cs typeface="Lucida Sans Unicode"/>
              </a:rPr>
              <a:t> </a:t>
            </a:r>
            <a:r>
              <a:rPr lang="en-IN" sz="1000" dirty="0">
                <a:latin typeface="Lucida Sans Unicode"/>
                <a:cs typeface="Lucida Sans Unicode"/>
              </a:rPr>
              <a:t>from</a:t>
            </a:r>
            <a:r>
              <a:rPr lang="en-IN" sz="1000" spc="10" dirty="0">
                <a:latin typeface="Lucida Sans Unicode"/>
                <a:cs typeface="Lucida Sans Unicode"/>
              </a:rPr>
              <a:t> </a:t>
            </a:r>
            <a:r>
              <a:rPr lang="en-IN" sz="1000" dirty="0">
                <a:latin typeface="Lucida Sans Unicode"/>
                <a:cs typeface="Lucida Sans Unicode"/>
              </a:rPr>
              <a:t>photo</a:t>
            </a:r>
            <a:r>
              <a:rPr lang="en-IN" sz="1000" spc="10" dirty="0">
                <a:latin typeface="Lucida Sans Unicode"/>
                <a:cs typeface="Lucida Sans Unicode"/>
              </a:rPr>
              <a:t> </a:t>
            </a:r>
            <a:r>
              <a:rPr lang="en-IN" sz="1000" dirty="0">
                <a:latin typeface="Lucida Sans Unicode"/>
                <a:cs typeface="Lucida Sans Unicode"/>
              </a:rPr>
              <a:t>banks</a:t>
            </a:r>
            <a:r>
              <a:rPr lang="en-IN" sz="1000" spc="10" dirty="0">
                <a:latin typeface="Lucida Sans Unicode"/>
                <a:cs typeface="Lucida Sans Unicode"/>
              </a:rPr>
              <a:t> </a:t>
            </a:r>
            <a:r>
              <a:rPr lang="en-IN" sz="1000" spc="-60" dirty="0">
                <a:latin typeface="Lucida Sans Unicode"/>
                <a:cs typeface="Lucida Sans Unicode"/>
              </a:rPr>
              <a:t>/</a:t>
            </a:r>
            <a:r>
              <a:rPr lang="en-IN" sz="1000" spc="10" dirty="0">
                <a:latin typeface="Lucida Sans Unicode"/>
                <a:cs typeface="Lucida Sans Unicode"/>
              </a:rPr>
              <a:t> </a:t>
            </a:r>
            <a:r>
              <a:rPr lang="en-IN" sz="1000" spc="-10" dirty="0">
                <a:latin typeface="Lucida Sans Unicode"/>
                <a:cs typeface="Lucida Sans Unicode"/>
              </a:rPr>
              <a:t>illustrations</a:t>
            </a:r>
            <a:r>
              <a:rPr lang="en-IN" sz="1000" spc="10" dirty="0">
                <a:latin typeface="Lucida Sans Unicode"/>
                <a:cs typeface="Lucida Sans Unicode"/>
              </a:rPr>
              <a:t> </a:t>
            </a:r>
            <a:r>
              <a:rPr lang="en-IN" sz="1000" spc="-60" dirty="0">
                <a:latin typeface="Lucida Sans Unicode"/>
                <a:cs typeface="Lucida Sans Unicode"/>
              </a:rPr>
              <a:t>/</a:t>
            </a:r>
            <a:r>
              <a:rPr lang="en-IN" sz="1000" spc="10" dirty="0">
                <a:latin typeface="Lucida Sans Unicode"/>
                <a:cs typeface="Lucida Sans Unicode"/>
              </a:rPr>
              <a:t> </a:t>
            </a:r>
            <a:r>
              <a:rPr lang="en-IN" sz="1000" dirty="0">
                <a:latin typeface="Lucida Sans Unicode"/>
                <a:cs typeface="Lucida Sans Unicode"/>
              </a:rPr>
              <a:t>video</a:t>
            </a:r>
            <a:r>
              <a:rPr lang="en-IN" sz="1000" spc="5" dirty="0">
                <a:latin typeface="Lucida Sans Unicode"/>
                <a:cs typeface="Lucida Sans Unicode"/>
              </a:rPr>
              <a:t> </a:t>
            </a:r>
            <a:r>
              <a:rPr lang="en-IN" sz="1000" dirty="0">
                <a:latin typeface="Lucida Sans Unicode"/>
                <a:cs typeface="Lucida Sans Unicode"/>
              </a:rPr>
              <a:t>footage</a:t>
            </a:r>
            <a:r>
              <a:rPr lang="en-IN" sz="1000" spc="10" dirty="0">
                <a:latin typeface="Lucida Sans Unicode"/>
                <a:cs typeface="Lucida Sans Unicode"/>
              </a:rPr>
              <a:t> </a:t>
            </a:r>
            <a:r>
              <a:rPr lang="en-IN" sz="1000" spc="-60" dirty="0">
                <a:latin typeface="Lucida Sans Unicode"/>
                <a:cs typeface="Lucida Sans Unicode"/>
              </a:rPr>
              <a:t>/</a:t>
            </a:r>
            <a:r>
              <a:rPr lang="en-IN" sz="1000" spc="10" dirty="0">
                <a:latin typeface="Lucida Sans Unicode"/>
                <a:cs typeface="Lucida Sans Unicode"/>
              </a:rPr>
              <a:t> </a:t>
            </a:r>
            <a:r>
              <a:rPr lang="en-IN" sz="1000" dirty="0">
                <a:latin typeface="Lucida Sans Unicode"/>
                <a:cs typeface="Lucida Sans Unicode"/>
              </a:rPr>
              <a:t>integrations</a:t>
            </a:r>
            <a:r>
              <a:rPr lang="en-IN" sz="1000" spc="10" dirty="0">
                <a:latin typeface="Lucida Sans Unicode"/>
                <a:cs typeface="Lucida Sans Unicode"/>
              </a:rPr>
              <a:t> </a:t>
            </a:r>
            <a:r>
              <a:rPr lang="en-IN" sz="1000" dirty="0">
                <a:latin typeface="Lucida Sans Unicode"/>
                <a:cs typeface="Lucida Sans Unicode"/>
              </a:rPr>
              <a:t>/</a:t>
            </a:r>
            <a:r>
              <a:rPr lang="en-IN" sz="1000" spc="330" dirty="0">
                <a:latin typeface="Lucida Sans Unicode"/>
                <a:cs typeface="Lucida Sans Unicode"/>
              </a:rPr>
              <a:t> </a:t>
            </a:r>
            <a:r>
              <a:rPr lang="en-IN" sz="1000" spc="-60" dirty="0">
                <a:latin typeface="Lucida Sans Unicode"/>
                <a:cs typeface="Lucida Sans Unicode"/>
              </a:rPr>
              <a:t>3D</a:t>
            </a:r>
            <a:r>
              <a:rPr lang="en-IN" sz="1000" spc="10" dirty="0">
                <a:latin typeface="Lucida Sans Unicode"/>
                <a:cs typeface="Lucida Sans Unicode"/>
              </a:rPr>
              <a:t> </a:t>
            </a:r>
            <a:r>
              <a:rPr lang="en-IN" sz="1000" spc="-10" dirty="0">
                <a:latin typeface="Lucida Sans Unicode"/>
                <a:cs typeface="Lucida Sans Unicode"/>
              </a:rPr>
              <a:t>renders</a:t>
            </a:r>
            <a:r>
              <a:rPr lang="en-IN" sz="1000" spc="-60" dirty="0">
                <a:latin typeface="Lucida Sans Unicode"/>
                <a:cs typeface="Lucida Sans Unicode"/>
              </a:rPr>
              <a:t>/</a:t>
            </a:r>
            <a:r>
              <a:rPr lang="en-IN" sz="1000" spc="15" dirty="0">
                <a:latin typeface="Lucida Sans Unicode"/>
                <a:cs typeface="Lucida Sans Unicode"/>
              </a:rPr>
              <a:t> </a:t>
            </a:r>
            <a:r>
              <a:rPr lang="en-IN" sz="1000" dirty="0">
                <a:latin typeface="Lucida Sans Unicode"/>
                <a:cs typeface="Lucida Sans Unicode"/>
              </a:rPr>
              <a:t>voice</a:t>
            </a:r>
            <a:r>
              <a:rPr lang="en-IN" sz="1000" spc="15" dirty="0">
                <a:latin typeface="Lucida Sans Unicode"/>
                <a:cs typeface="Lucida Sans Unicode"/>
              </a:rPr>
              <a:t> </a:t>
            </a:r>
            <a:r>
              <a:rPr lang="en-IN" sz="1000" dirty="0">
                <a:latin typeface="Lucida Sans Unicode"/>
                <a:cs typeface="Lucida Sans Unicode"/>
              </a:rPr>
              <a:t>over</a:t>
            </a:r>
            <a:r>
              <a:rPr lang="en-IN" sz="1000" spc="15" dirty="0">
                <a:latin typeface="Lucida Sans Unicode"/>
                <a:cs typeface="Lucida Sans Unicode"/>
              </a:rPr>
              <a:t> </a:t>
            </a:r>
            <a:r>
              <a:rPr lang="en-IN" sz="1000" spc="-60" dirty="0">
                <a:latin typeface="Lucida Sans Unicode"/>
                <a:cs typeface="Lucida Sans Unicode"/>
              </a:rPr>
              <a:t>/</a:t>
            </a:r>
            <a:r>
              <a:rPr lang="en-IN" sz="1000" spc="15" dirty="0">
                <a:latin typeface="Lucida Sans Unicode"/>
                <a:cs typeface="Lucida Sans Unicode"/>
              </a:rPr>
              <a:t> </a:t>
            </a:r>
            <a:r>
              <a:rPr lang="en-IN" sz="1000" dirty="0">
                <a:latin typeface="Lucida Sans Unicode"/>
                <a:cs typeface="Lucida Sans Unicode"/>
              </a:rPr>
              <a:t>music</a:t>
            </a:r>
            <a:r>
              <a:rPr lang="en-IN" sz="1000" spc="15" dirty="0">
                <a:latin typeface="Lucida Sans Unicode"/>
                <a:cs typeface="Lucida Sans Unicode"/>
              </a:rPr>
              <a:t> </a:t>
            </a:r>
            <a:r>
              <a:rPr lang="en-IN" sz="1000" dirty="0">
                <a:latin typeface="Lucida Sans Unicode"/>
                <a:cs typeface="Lucida Sans Unicode"/>
              </a:rPr>
              <a:t>that</a:t>
            </a:r>
            <a:r>
              <a:rPr lang="en-IN" sz="1000" spc="20" dirty="0">
                <a:latin typeface="Lucida Sans Unicode"/>
                <a:cs typeface="Lucida Sans Unicode"/>
              </a:rPr>
              <a:t> </a:t>
            </a:r>
            <a:r>
              <a:rPr lang="en-IN" sz="1000" spc="75" dirty="0">
                <a:latin typeface="Lucida Sans Unicode"/>
                <a:cs typeface="Lucida Sans Unicode"/>
              </a:rPr>
              <a:t>may</a:t>
            </a:r>
            <a:r>
              <a:rPr lang="en-IN" sz="1000" spc="15" dirty="0">
                <a:latin typeface="Lucida Sans Unicode"/>
                <a:cs typeface="Lucida Sans Unicode"/>
              </a:rPr>
              <a:t> </a:t>
            </a:r>
            <a:r>
              <a:rPr lang="en-IN" sz="1000" spc="50" dirty="0">
                <a:latin typeface="Lucida Sans Unicode"/>
                <a:cs typeface="Lucida Sans Unicode"/>
              </a:rPr>
              <a:t>be</a:t>
            </a:r>
            <a:r>
              <a:rPr lang="en-IN" sz="1000" spc="15" dirty="0">
                <a:latin typeface="Lucida Sans Unicode"/>
                <a:cs typeface="Lucida Sans Unicode"/>
              </a:rPr>
              <a:t> </a:t>
            </a:r>
            <a:r>
              <a:rPr lang="en-IN" sz="1000" dirty="0">
                <a:latin typeface="Lucida Sans Unicode"/>
                <a:cs typeface="Lucida Sans Unicode"/>
              </a:rPr>
              <a:t>used,</a:t>
            </a:r>
            <a:r>
              <a:rPr lang="en-IN" sz="1000" spc="15" dirty="0">
                <a:latin typeface="Lucida Sans Unicode"/>
                <a:cs typeface="Lucida Sans Unicode"/>
              </a:rPr>
              <a:t> </a:t>
            </a:r>
            <a:r>
              <a:rPr lang="en-IN" sz="1000" dirty="0">
                <a:latin typeface="Lucida Sans Unicode"/>
                <a:cs typeface="Lucida Sans Unicode"/>
              </a:rPr>
              <a:t>they</a:t>
            </a:r>
            <a:r>
              <a:rPr lang="en-IN" sz="1000" spc="15" dirty="0">
                <a:latin typeface="Lucida Sans Unicode"/>
                <a:cs typeface="Lucida Sans Unicode"/>
              </a:rPr>
              <a:t> </a:t>
            </a:r>
            <a:r>
              <a:rPr lang="en-IN" sz="1000" spc="-35" dirty="0">
                <a:latin typeface="Lucida Sans Unicode"/>
                <a:cs typeface="Lucida Sans Unicode"/>
              </a:rPr>
              <a:t>will</a:t>
            </a:r>
            <a:r>
              <a:rPr lang="en-IN" sz="1000" spc="20" dirty="0">
                <a:latin typeface="Lucida Sans Unicode"/>
                <a:cs typeface="Lucida Sans Unicode"/>
              </a:rPr>
              <a:t> </a:t>
            </a:r>
            <a:r>
              <a:rPr lang="en-IN" sz="1000" spc="50" dirty="0">
                <a:latin typeface="Lucida Sans Unicode"/>
                <a:cs typeface="Lucida Sans Unicode"/>
              </a:rPr>
              <a:t>be</a:t>
            </a:r>
            <a:r>
              <a:rPr lang="en-IN" sz="1000" spc="15" dirty="0">
                <a:latin typeface="Lucida Sans Unicode"/>
                <a:cs typeface="Lucida Sans Unicode"/>
              </a:rPr>
              <a:t> </a:t>
            </a:r>
            <a:r>
              <a:rPr lang="en-IN" sz="1000" dirty="0">
                <a:latin typeface="Lucida Sans Unicode"/>
                <a:cs typeface="Lucida Sans Unicode"/>
              </a:rPr>
              <a:t>charged</a:t>
            </a:r>
            <a:r>
              <a:rPr lang="en-IN" sz="1000" spc="15" dirty="0">
                <a:latin typeface="Lucida Sans Unicode"/>
                <a:cs typeface="Lucida Sans Unicode"/>
              </a:rPr>
              <a:t> </a:t>
            </a:r>
            <a:r>
              <a:rPr lang="en-IN" sz="1000" dirty="0">
                <a:latin typeface="Lucida Sans Unicode"/>
                <a:cs typeface="Lucida Sans Unicode"/>
              </a:rPr>
              <a:t>on</a:t>
            </a:r>
            <a:r>
              <a:rPr lang="en-IN" sz="1000" spc="15" dirty="0">
                <a:latin typeface="Lucida Sans Unicode"/>
                <a:cs typeface="Lucida Sans Unicode"/>
              </a:rPr>
              <a:t> </a:t>
            </a:r>
            <a:r>
              <a:rPr lang="en-IN" sz="1000" spc="-10" dirty="0">
                <a:latin typeface="Lucida Sans Unicode"/>
                <a:cs typeface="Lucida Sans Unicode"/>
              </a:rPr>
              <a:t>actuals.</a:t>
            </a:r>
            <a:endParaRPr lang="en-IN" sz="1000" dirty="0">
              <a:latin typeface="Lucida Sans Unicode"/>
              <a:cs typeface="Lucida Sans Unicode"/>
            </a:endParaRPr>
          </a:p>
          <a:p>
            <a:pPr marL="184150" indent="-171450">
              <a:lnSpc>
                <a:spcPct val="100000"/>
              </a:lnSpc>
              <a:spcBef>
                <a:spcPts val="525"/>
              </a:spcBef>
              <a:buFont typeface="Arial" panose="020B0604020202020204" pitchFamily="34" charset="0"/>
              <a:buChar char="•"/>
              <a:tabLst>
                <a:tab pos="239395" algn="l"/>
              </a:tabLst>
            </a:pPr>
            <a:r>
              <a:rPr lang="en-IN" sz="1000" dirty="0">
                <a:latin typeface="Lucida Sans Unicode"/>
                <a:cs typeface="Lucida Sans Unicode"/>
              </a:rPr>
              <a:t>Shoots</a:t>
            </a:r>
            <a:r>
              <a:rPr lang="en-IN" sz="1000" spc="55" dirty="0">
                <a:latin typeface="Lucida Sans Unicode"/>
                <a:cs typeface="Lucida Sans Unicode"/>
              </a:rPr>
              <a:t> </a:t>
            </a:r>
            <a:r>
              <a:rPr lang="en-IN" sz="1000" spc="-35" dirty="0">
                <a:latin typeface="Lucida Sans Unicode"/>
                <a:cs typeface="Lucida Sans Unicode"/>
              </a:rPr>
              <a:t>will</a:t>
            </a:r>
            <a:r>
              <a:rPr lang="en-IN" sz="1000" spc="55" dirty="0">
                <a:latin typeface="Lucida Sans Unicode"/>
                <a:cs typeface="Lucida Sans Unicode"/>
              </a:rPr>
              <a:t> </a:t>
            </a:r>
            <a:r>
              <a:rPr lang="en-IN" sz="1000" spc="50" dirty="0">
                <a:latin typeface="Lucida Sans Unicode"/>
                <a:cs typeface="Lucida Sans Unicode"/>
              </a:rPr>
              <a:t>be</a:t>
            </a:r>
            <a:r>
              <a:rPr lang="en-IN" sz="1000" spc="55" dirty="0">
                <a:latin typeface="Lucida Sans Unicode"/>
                <a:cs typeface="Lucida Sans Unicode"/>
              </a:rPr>
              <a:t> </a:t>
            </a:r>
            <a:r>
              <a:rPr lang="en-IN" sz="1000" dirty="0">
                <a:latin typeface="Lucida Sans Unicode"/>
                <a:cs typeface="Lucida Sans Unicode"/>
              </a:rPr>
              <a:t>charged</a:t>
            </a:r>
            <a:r>
              <a:rPr lang="en-IN" sz="1000" spc="60" dirty="0">
                <a:latin typeface="Lucida Sans Unicode"/>
                <a:cs typeface="Lucida Sans Unicode"/>
              </a:rPr>
              <a:t> </a:t>
            </a:r>
            <a:r>
              <a:rPr lang="en-IN" sz="1000" spc="-10" dirty="0">
                <a:latin typeface="Lucida Sans Unicode"/>
                <a:cs typeface="Lucida Sans Unicode"/>
              </a:rPr>
              <a:t>separately.</a:t>
            </a:r>
            <a:endParaRPr lang="en-IN" sz="1000" dirty="0">
              <a:latin typeface="Lucida Sans Unicode"/>
              <a:cs typeface="Lucida Sans Unicode"/>
            </a:endParaRPr>
          </a:p>
          <a:p>
            <a:pPr marL="184150" indent="-171450">
              <a:lnSpc>
                <a:spcPct val="100000"/>
              </a:lnSpc>
              <a:spcBef>
                <a:spcPts val="525"/>
              </a:spcBef>
              <a:buFont typeface="Arial" panose="020B0604020202020204" pitchFamily="34" charset="0"/>
              <a:buChar char="•"/>
              <a:tabLst>
                <a:tab pos="239395" algn="l"/>
              </a:tabLst>
            </a:pPr>
            <a:r>
              <a:rPr lang="en-IN" sz="1000" spc="-10" dirty="0">
                <a:latin typeface="Lucida Sans Unicode"/>
                <a:cs typeface="Lucida Sans Unicode"/>
              </a:rPr>
              <a:t>The</a:t>
            </a:r>
            <a:r>
              <a:rPr lang="en-IN" sz="1000" spc="25" dirty="0">
                <a:latin typeface="Lucida Sans Unicode"/>
                <a:cs typeface="Lucida Sans Unicode"/>
              </a:rPr>
              <a:t> </a:t>
            </a:r>
            <a:r>
              <a:rPr lang="en-IN" sz="1000" spc="55" dirty="0">
                <a:latin typeface="Lucida Sans Unicode"/>
                <a:cs typeface="Lucida Sans Unicode"/>
              </a:rPr>
              <a:t>agency</a:t>
            </a:r>
            <a:r>
              <a:rPr lang="en-IN" sz="1000" spc="30" dirty="0">
                <a:latin typeface="Lucida Sans Unicode"/>
                <a:cs typeface="Lucida Sans Unicode"/>
              </a:rPr>
              <a:t> </a:t>
            </a:r>
            <a:r>
              <a:rPr lang="en-IN" sz="1000" spc="-35" dirty="0">
                <a:latin typeface="Lucida Sans Unicode"/>
                <a:cs typeface="Lucida Sans Unicode"/>
              </a:rPr>
              <a:t>will</a:t>
            </a:r>
            <a:r>
              <a:rPr lang="en-IN" sz="1000" spc="30" dirty="0">
                <a:latin typeface="Lucida Sans Unicode"/>
                <a:cs typeface="Lucida Sans Unicode"/>
              </a:rPr>
              <a:t> </a:t>
            </a:r>
            <a:r>
              <a:rPr lang="en-IN" sz="1000" dirty="0">
                <a:latin typeface="Lucida Sans Unicode"/>
                <a:cs typeface="Lucida Sans Unicode"/>
              </a:rPr>
              <a:t>charge</a:t>
            </a:r>
            <a:r>
              <a:rPr lang="en-IN" sz="1000" spc="30" dirty="0">
                <a:latin typeface="Lucida Sans Unicode"/>
                <a:cs typeface="Lucida Sans Unicode"/>
              </a:rPr>
              <a:t> </a:t>
            </a:r>
            <a:r>
              <a:rPr lang="en-IN" sz="1000" spc="120" dirty="0">
                <a:latin typeface="Lucida Sans Unicode"/>
                <a:cs typeface="Lucida Sans Unicode"/>
              </a:rPr>
              <a:t>a</a:t>
            </a:r>
            <a:r>
              <a:rPr lang="en-IN" sz="1000" spc="25" dirty="0">
                <a:latin typeface="Lucida Sans Unicode"/>
                <a:cs typeface="Lucida Sans Unicode"/>
              </a:rPr>
              <a:t> </a:t>
            </a:r>
            <a:r>
              <a:rPr lang="en-IN" sz="1000" spc="-90" dirty="0">
                <a:latin typeface="Lucida Sans Unicode"/>
                <a:cs typeface="Lucida Sans Unicode"/>
              </a:rPr>
              <a:t>15%</a:t>
            </a:r>
            <a:r>
              <a:rPr lang="en-IN" sz="1000" spc="30" dirty="0">
                <a:latin typeface="Lucida Sans Unicode"/>
                <a:cs typeface="Lucida Sans Unicode"/>
              </a:rPr>
              <a:t> </a:t>
            </a:r>
            <a:r>
              <a:rPr lang="en-IN" sz="1000" dirty="0">
                <a:latin typeface="Lucida Sans Unicode"/>
                <a:cs typeface="Lucida Sans Unicode"/>
              </a:rPr>
              <a:t>fee</a:t>
            </a:r>
            <a:r>
              <a:rPr lang="en-IN" sz="1000" spc="30" dirty="0">
                <a:latin typeface="Lucida Sans Unicode"/>
                <a:cs typeface="Lucida Sans Unicode"/>
              </a:rPr>
              <a:t> </a:t>
            </a:r>
            <a:r>
              <a:rPr lang="en-IN" sz="1000" spc="-20" dirty="0">
                <a:latin typeface="Lucida Sans Unicode"/>
                <a:cs typeface="Lucida Sans Unicode"/>
              </a:rPr>
              <a:t>for</a:t>
            </a:r>
            <a:r>
              <a:rPr lang="en-IN" sz="1000" spc="30" dirty="0">
                <a:latin typeface="Lucida Sans Unicode"/>
                <a:cs typeface="Lucida Sans Unicode"/>
              </a:rPr>
              <a:t> </a:t>
            </a:r>
            <a:r>
              <a:rPr lang="en-IN" sz="1000" dirty="0">
                <a:latin typeface="Lucida Sans Unicode"/>
                <a:cs typeface="Lucida Sans Unicode"/>
              </a:rPr>
              <a:t>all</a:t>
            </a:r>
            <a:r>
              <a:rPr lang="en-IN" sz="1000" spc="30" dirty="0">
                <a:latin typeface="Lucida Sans Unicode"/>
                <a:cs typeface="Lucida Sans Unicode"/>
              </a:rPr>
              <a:t> </a:t>
            </a:r>
            <a:r>
              <a:rPr lang="en-IN" sz="1000" spc="-25" dirty="0">
                <a:latin typeface="Lucida Sans Unicode"/>
                <a:cs typeface="Lucida Sans Unicode"/>
              </a:rPr>
              <a:t>third-</a:t>
            </a:r>
            <a:r>
              <a:rPr lang="en-IN" sz="1000" dirty="0">
                <a:latin typeface="Lucida Sans Unicode"/>
                <a:cs typeface="Lucida Sans Unicode"/>
              </a:rPr>
              <a:t>party</a:t>
            </a:r>
            <a:r>
              <a:rPr lang="en-IN" sz="1000" spc="25" dirty="0">
                <a:latin typeface="Lucida Sans Unicode"/>
                <a:cs typeface="Lucida Sans Unicode"/>
              </a:rPr>
              <a:t> </a:t>
            </a:r>
            <a:r>
              <a:rPr lang="en-IN" sz="1000" spc="-10" dirty="0">
                <a:latin typeface="Lucida Sans Unicode"/>
                <a:cs typeface="Lucida Sans Unicode"/>
              </a:rPr>
              <a:t>facilitation,</a:t>
            </a:r>
            <a:r>
              <a:rPr lang="en-IN" sz="1000" spc="30" dirty="0">
                <a:latin typeface="Lucida Sans Unicode"/>
                <a:cs typeface="Lucida Sans Unicode"/>
              </a:rPr>
              <a:t> </a:t>
            </a:r>
            <a:r>
              <a:rPr lang="en-IN" sz="1000" dirty="0">
                <a:latin typeface="Lucida Sans Unicode"/>
                <a:cs typeface="Lucida Sans Unicode"/>
              </a:rPr>
              <a:t>media</a:t>
            </a:r>
            <a:r>
              <a:rPr lang="en-IN" sz="1000" spc="30" dirty="0">
                <a:latin typeface="Lucida Sans Unicode"/>
                <a:cs typeface="Lucida Sans Unicode"/>
              </a:rPr>
              <a:t> and </a:t>
            </a:r>
            <a:r>
              <a:rPr lang="en-IN" sz="1000" dirty="0">
                <a:latin typeface="Lucida Sans Unicode"/>
                <a:cs typeface="Lucida Sans Unicode"/>
              </a:rPr>
              <a:t>influencer</a:t>
            </a:r>
            <a:r>
              <a:rPr lang="en-IN" sz="1000" spc="-20" dirty="0">
                <a:latin typeface="Lucida Sans Unicode"/>
                <a:cs typeface="Lucida Sans Unicode"/>
              </a:rPr>
              <a:t> </a:t>
            </a:r>
            <a:r>
              <a:rPr lang="en-IN" sz="1000" spc="-10" dirty="0">
                <a:latin typeface="Lucida Sans Unicode"/>
                <a:cs typeface="Lucida Sans Unicode"/>
              </a:rPr>
              <a:t>facilitation</a:t>
            </a:r>
          </a:p>
          <a:p>
            <a:pPr marL="184150" indent="-171450">
              <a:lnSpc>
                <a:spcPct val="100000"/>
              </a:lnSpc>
              <a:spcBef>
                <a:spcPts val="525"/>
              </a:spcBef>
              <a:buFont typeface="Arial" panose="020B0604020202020204" pitchFamily="34" charset="0"/>
              <a:buChar char="•"/>
              <a:tabLst>
                <a:tab pos="239395" algn="l"/>
              </a:tabLst>
            </a:pPr>
            <a:r>
              <a:rPr lang="en-IN" sz="1000" dirty="0">
                <a:latin typeface="Lucida Sans Unicode"/>
                <a:cs typeface="Lucida Sans Unicode"/>
              </a:rPr>
              <a:t>Travel/boarding/lodging</a:t>
            </a:r>
            <a:r>
              <a:rPr lang="en-IN" sz="1000" spc="10" dirty="0">
                <a:latin typeface="Lucida Sans Unicode"/>
                <a:cs typeface="Lucida Sans Unicode"/>
              </a:rPr>
              <a:t> </a:t>
            </a:r>
            <a:r>
              <a:rPr lang="en-IN" sz="1000" dirty="0">
                <a:latin typeface="Lucida Sans Unicode"/>
                <a:cs typeface="Lucida Sans Unicode"/>
              </a:rPr>
              <a:t>expenses</a:t>
            </a:r>
            <a:r>
              <a:rPr lang="en-IN" sz="1000" spc="10" dirty="0">
                <a:latin typeface="Lucida Sans Unicode"/>
                <a:cs typeface="Lucida Sans Unicode"/>
              </a:rPr>
              <a:t> </a:t>
            </a:r>
            <a:r>
              <a:rPr lang="en-IN" sz="1000" dirty="0">
                <a:latin typeface="Lucida Sans Unicode"/>
                <a:cs typeface="Lucida Sans Unicode"/>
              </a:rPr>
              <a:t>outside</a:t>
            </a:r>
            <a:r>
              <a:rPr lang="en-IN" sz="1000" spc="15" dirty="0">
                <a:latin typeface="Lucida Sans Unicode"/>
                <a:cs typeface="Lucida Sans Unicode"/>
              </a:rPr>
              <a:t> </a:t>
            </a:r>
            <a:r>
              <a:rPr lang="en-IN" sz="1000" dirty="0">
                <a:latin typeface="Lucida Sans Unicode"/>
                <a:cs typeface="Lucida Sans Unicode"/>
              </a:rPr>
              <a:t>the</a:t>
            </a:r>
            <a:r>
              <a:rPr lang="en-IN" sz="1000" spc="10" dirty="0">
                <a:latin typeface="Lucida Sans Unicode"/>
                <a:cs typeface="Lucida Sans Unicode"/>
              </a:rPr>
              <a:t> </a:t>
            </a:r>
            <a:r>
              <a:rPr lang="en-IN" sz="1000" dirty="0">
                <a:latin typeface="Lucida Sans Unicode"/>
                <a:cs typeface="Lucida Sans Unicode"/>
              </a:rPr>
              <a:t>NCR</a:t>
            </a:r>
            <a:r>
              <a:rPr lang="en-IN" sz="1000" spc="15" dirty="0">
                <a:latin typeface="Lucida Sans Unicode"/>
                <a:cs typeface="Lucida Sans Unicode"/>
              </a:rPr>
              <a:t> </a:t>
            </a:r>
            <a:r>
              <a:rPr lang="en-IN" sz="1000" spc="-35" dirty="0">
                <a:latin typeface="Lucida Sans Unicode"/>
                <a:cs typeface="Lucida Sans Unicode"/>
              </a:rPr>
              <a:t>will</a:t>
            </a:r>
            <a:r>
              <a:rPr lang="en-IN" sz="1000" spc="10" dirty="0">
                <a:latin typeface="Lucida Sans Unicode"/>
                <a:cs typeface="Lucida Sans Unicode"/>
              </a:rPr>
              <a:t> </a:t>
            </a:r>
            <a:r>
              <a:rPr lang="en-IN" sz="1000" spc="50" dirty="0">
                <a:latin typeface="Lucida Sans Unicode"/>
                <a:cs typeface="Lucida Sans Unicode"/>
              </a:rPr>
              <a:t>be</a:t>
            </a:r>
            <a:r>
              <a:rPr lang="en-IN" sz="1000" spc="15" dirty="0">
                <a:latin typeface="Lucida Sans Unicode"/>
                <a:cs typeface="Lucida Sans Unicode"/>
              </a:rPr>
              <a:t> </a:t>
            </a:r>
            <a:r>
              <a:rPr lang="en-IN" sz="1000" dirty="0">
                <a:latin typeface="Lucida Sans Unicode"/>
                <a:cs typeface="Lucida Sans Unicode"/>
              </a:rPr>
              <a:t>on</a:t>
            </a:r>
            <a:r>
              <a:rPr lang="en-IN" sz="1000" spc="10" dirty="0">
                <a:latin typeface="Lucida Sans Unicode"/>
                <a:cs typeface="Lucida Sans Unicode"/>
              </a:rPr>
              <a:t> </a:t>
            </a:r>
            <a:r>
              <a:rPr lang="en-IN" sz="1000" dirty="0">
                <a:latin typeface="Lucida Sans Unicode"/>
                <a:cs typeface="Lucida Sans Unicode"/>
              </a:rPr>
              <a:t>actuals</a:t>
            </a:r>
            <a:r>
              <a:rPr lang="en-IN" sz="1000" spc="15" dirty="0">
                <a:latin typeface="Lucida Sans Unicode"/>
                <a:cs typeface="Lucida Sans Unicode"/>
              </a:rPr>
              <a:t> </a:t>
            </a:r>
            <a:r>
              <a:rPr lang="en-IN" sz="1000" spc="55" dirty="0">
                <a:latin typeface="Lucida Sans Unicode"/>
                <a:cs typeface="Lucida Sans Unicode"/>
              </a:rPr>
              <a:t>and</a:t>
            </a:r>
            <a:r>
              <a:rPr lang="en-IN" sz="1000" spc="10" dirty="0">
                <a:latin typeface="Lucida Sans Unicode"/>
                <a:cs typeface="Lucida Sans Unicode"/>
              </a:rPr>
              <a:t> </a:t>
            </a:r>
            <a:r>
              <a:rPr lang="en-IN" sz="1000" dirty="0">
                <a:latin typeface="Lucida Sans Unicode"/>
                <a:cs typeface="Lucida Sans Unicode"/>
              </a:rPr>
              <a:t>to</a:t>
            </a:r>
            <a:r>
              <a:rPr lang="en-IN" sz="1000" spc="15" dirty="0">
                <a:latin typeface="Lucida Sans Unicode"/>
                <a:cs typeface="Lucida Sans Unicode"/>
              </a:rPr>
              <a:t> </a:t>
            </a:r>
            <a:r>
              <a:rPr lang="en-IN" sz="1000" spc="25" dirty="0">
                <a:latin typeface="Lucida Sans Unicode"/>
                <a:cs typeface="Lucida Sans Unicode"/>
              </a:rPr>
              <a:t>be 	</a:t>
            </a:r>
            <a:r>
              <a:rPr lang="en-IN" sz="1000" dirty="0">
                <a:latin typeface="Lucida Sans Unicode"/>
                <a:cs typeface="Lucida Sans Unicode"/>
              </a:rPr>
              <a:t>borne</a:t>
            </a:r>
            <a:r>
              <a:rPr lang="en-IN" sz="1000" spc="20" dirty="0">
                <a:latin typeface="Lucida Sans Unicode"/>
                <a:cs typeface="Lucida Sans Unicode"/>
              </a:rPr>
              <a:t> </a:t>
            </a:r>
            <a:r>
              <a:rPr lang="en-IN" sz="1000" dirty="0">
                <a:latin typeface="Lucida Sans Unicode"/>
                <a:cs typeface="Lucida Sans Unicode"/>
              </a:rPr>
              <a:t>by</a:t>
            </a:r>
            <a:r>
              <a:rPr lang="en-IN" sz="1000" spc="20" dirty="0">
                <a:latin typeface="Lucida Sans Unicode"/>
                <a:cs typeface="Lucida Sans Unicode"/>
              </a:rPr>
              <a:t> </a:t>
            </a:r>
            <a:r>
              <a:rPr lang="en-IN" sz="1000" dirty="0">
                <a:latin typeface="Lucida Sans Unicode"/>
                <a:cs typeface="Lucida Sans Unicode"/>
              </a:rPr>
              <a:t>the</a:t>
            </a:r>
            <a:r>
              <a:rPr lang="en-IN" sz="1000" spc="20" dirty="0">
                <a:latin typeface="Lucida Sans Unicode"/>
                <a:cs typeface="Lucida Sans Unicode"/>
              </a:rPr>
              <a:t> </a:t>
            </a:r>
            <a:r>
              <a:rPr lang="en-IN" sz="1000" spc="-10" dirty="0">
                <a:latin typeface="Lucida Sans Unicode"/>
                <a:cs typeface="Lucida Sans Unicode"/>
              </a:rPr>
              <a:t>client.</a:t>
            </a:r>
          </a:p>
          <a:p>
            <a:pPr marL="184150" indent="-171450">
              <a:lnSpc>
                <a:spcPct val="100000"/>
              </a:lnSpc>
              <a:spcBef>
                <a:spcPts val="525"/>
              </a:spcBef>
              <a:buFont typeface="Arial" panose="020B0604020202020204" pitchFamily="34" charset="0"/>
              <a:buChar char="•"/>
              <a:tabLst>
                <a:tab pos="239395" algn="l"/>
              </a:tabLst>
            </a:pPr>
            <a:r>
              <a:rPr lang="en-IN" sz="1000" dirty="0">
                <a:latin typeface="Lucida Sans Unicode"/>
                <a:cs typeface="Lucida Sans Unicode"/>
              </a:rPr>
              <a:t>Any</a:t>
            </a:r>
            <a:r>
              <a:rPr lang="en-IN" sz="1000" spc="-15" dirty="0">
                <a:latin typeface="Lucida Sans Unicode"/>
                <a:cs typeface="Lucida Sans Unicode"/>
              </a:rPr>
              <a:t> </a:t>
            </a:r>
            <a:r>
              <a:rPr lang="en-IN" sz="1000" spc="-25" dirty="0">
                <a:latin typeface="Lucida Sans Unicode"/>
                <a:cs typeface="Lucida Sans Unicode"/>
              </a:rPr>
              <a:t>third-</a:t>
            </a:r>
            <a:r>
              <a:rPr lang="en-IN" sz="1000" dirty="0">
                <a:latin typeface="Lucida Sans Unicode"/>
                <a:cs typeface="Lucida Sans Unicode"/>
              </a:rPr>
              <a:t>party</a:t>
            </a:r>
            <a:r>
              <a:rPr lang="en-IN" sz="1000" spc="-10" dirty="0">
                <a:latin typeface="Lucida Sans Unicode"/>
                <a:cs typeface="Lucida Sans Unicode"/>
              </a:rPr>
              <a:t> </a:t>
            </a:r>
            <a:r>
              <a:rPr lang="en-IN" sz="1000" spc="-20" dirty="0">
                <a:latin typeface="Lucida Sans Unicode"/>
                <a:cs typeface="Lucida Sans Unicode"/>
              </a:rPr>
              <a:t>plugins,</a:t>
            </a:r>
            <a:r>
              <a:rPr lang="en-IN" sz="1000" spc="-10" dirty="0">
                <a:latin typeface="Lucida Sans Unicode"/>
                <a:cs typeface="Lucida Sans Unicode"/>
              </a:rPr>
              <a:t> </a:t>
            </a:r>
            <a:r>
              <a:rPr lang="en-IN" sz="1000" dirty="0">
                <a:latin typeface="Lucida Sans Unicode"/>
                <a:cs typeface="Lucida Sans Unicode"/>
              </a:rPr>
              <a:t>software,</a:t>
            </a:r>
            <a:r>
              <a:rPr lang="en-IN" sz="1000" spc="-10" dirty="0">
                <a:latin typeface="Lucida Sans Unicode"/>
                <a:cs typeface="Lucida Sans Unicode"/>
              </a:rPr>
              <a:t> </a:t>
            </a:r>
            <a:r>
              <a:rPr lang="en-IN" sz="1000" dirty="0">
                <a:latin typeface="Lucida Sans Unicode"/>
                <a:cs typeface="Lucida Sans Unicode"/>
              </a:rPr>
              <a:t>or</a:t>
            </a:r>
            <a:r>
              <a:rPr lang="en-IN" sz="1000" spc="-10" dirty="0">
                <a:latin typeface="Lucida Sans Unicode"/>
                <a:cs typeface="Lucida Sans Unicode"/>
              </a:rPr>
              <a:t> </a:t>
            </a:r>
            <a:r>
              <a:rPr lang="en-IN" sz="1000" dirty="0">
                <a:latin typeface="Lucida Sans Unicode"/>
                <a:cs typeface="Lucida Sans Unicode"/>
              </a:rPr>
              <a:t>tool</a:t>
            </a:r>
            <a:r>
              <a:rPr lang="en-IN" sz="1000" spc="-10" dirty="0">
                <a:latin typeface="Lucida Sans Unicode"/>
                <a:cs typeface="Lucida Sans Unicode"/>
              </a:rPr>
              <a:t> </a:t>
            </a:r>
            <a:r>
              <a:rPr lang="en-IN" sz="1000" dirty="0">
                <a:latin typeface="Lucida Sans Unicode"/>
                <a:cs typeface="Lucida Sans Unicode"/>
              </a:rPr>
              <a:t>subscriptions</a:t>
            </a:r>
            <a:r>
              <a:rPr lang="en-IN" sz="1000" spc="-10" dirty="0">
                <a:latin typeface="Lucida Sans Unicode"/>
                <a:cs typeface="Lucida Sans Unicode"/>
              </a:rPr>
              <a:t> </a:t>
            </a:r>
            <a:r>
              <a:rPr lang="en-IN" sz="1000" dirty="0">
                <a:latin typeface="Lucida Sans Unicode"/>
                <a:cs typeface="Lucida Sans Unicode"/>
              </a:rPr>
              <a:t>required</a:t>
            </a:r>
            <a:r>
              <a:rPr lang="en-IN" sz="1000" spc="-10" dirty="0">
                <a:latin typeface="Lucida Sans Unicode"/>
                <a:cs typeface="Lucida Sans Unicode"/>
              </a:rPr>
              <a:t> </a:t>
            </a:r>
            <a:r>
              <a:rPr lang="en-IN" sz="1000" spc="-20" dirty="0">
                <a:latin typeface="Lucida Sans Unicode"/>
                <a:cs typeface="Lucida Sans Unicode"/>
              </a:rPr>
              <a:t>for</a:t>
            </a:r>
            <a:r>
              <a:rPr lang="en-IN" sz="1000" spc="-10" dirty="0">
                <a:latin typeface="Lucida Sans Unicode"/>
                <a:cs typeface="Lucida Sans Unicode"/>
              </a:rPr>
              <a:t> </a:t>
            </a:r>
            <a:r>
              <a:rPr lang="en-IN" sz="1000" dirty="0">
                <a:latin typeface="Lucida Sans Unicode"/>
                <a:cs typeface="Lucida Sans Unicode"/>
              </a:rPr>
              <a:t>the</a:t>
            </a:r>
            <a:r>
              <a:rPr lang="en-IN" sz="1000" spc="-10" dirty="0">
                <a:latin typeface="Lucida Sans Unicode"/>
                <a:cs typeface="Lucida Sans Unicode"/>
              </a:rPr>
              <a:t> execution 	</a:t>
            </a:r>
            <a:r>
              <a:rPr lang="en-IN" sz="1000" dirty="0">
                <a:latin typeface="Lucida Sans Unicode"/>
                <a:cs typeface="Lucida Sans Unicode"/>
              </a:rPr>
              <a:t>of</a:t>
            </a:r>
            <a:r>
              <a:rPr lang="en-IN" sz="1000" spc="15" dirty="0">
                <a:latin typeface="Lucida Sans Unicode"/>
                <a:cs typeface="Lucida Sans Unicode"/>
              </a:rPr>
              <a:t> </a:t>
            </a:r>
            <a:r>
              <a:rPr lang="en-IN" sz="1000" dirty="0">
                <a:latin typeface="Lucida Sans Unicode"/>
                <a:cs typeface="Lucida Sans Unicode"/>
              </a:rPr>
              <a:t>the</a:t>
            </a:r>
            <a:r>
              <a:rPr lang="en-IN" sz="1000" spc="15" dirty="0">
                <a:latin typeface="Lucida Sans Unicode"/>
                <a:cs typeface="Lucida Sans Unicode"/>
              </a:rPr>
              <a:t> </a:t>
            </a:r>
            <a:r>
              <a:rPr lang="en-IN" sz="1000" dirty="0">
                <a:latin typeface="Lucida Sans Unicode"/>
                <a:cs typeface="Lucida Sans Unicode"/>
              </a:rPr>
              <a:t>services</a:t>
            </a:r>
            <a:r>
              <a:rPr lang="en-IN" sz="1000" spc="15" dirty="0">
                <a:latin typeface="Lucida Sans Unicode"/>
                <a:cs typeface="Lucida Sans Unicode"/>
              </a:rPr>
              <a:t> </a:t>
            </a:r>
            <a:r>
              <a:rPr lang="en-IN" sz="1000" dirty="0">
                <a:latin typeface="Lucida Sans Unicode"/>
                <a:cs typeface="Lucida Sans Unicode"/>
              </a:rPr>
              <a:t>shall</a:t>
            </a:r>
            <a:r>
              <a:rPr lang="en-IN" sz="1000" spc="15" dirty="0">
                <a:latin typeface="Lucida Sans Unicode"/>
                <a:cs typeface="Lucida Sans Unicode"/>
              </a:rPr>
              <a:t> </a:t>
            </a:r>
            <a:r>
              <a:rPr lang="en-IN" sz="1000" spc="50" dirty="0">
                <a:latin typeface="Lucida Sans Unicode"/>
                <a:cs typeface="Lucida Sans Unicode"/>
              </a:rPr>
              <a:t>be</a:t>
            </a:r>
            <a:r>
              <a:rPr lang="en-IN" sz="1000" spc="20" dirty="0">
                <a:latin typeface="Lucida Sans Unicode"/>
                <a:cs typeface="Lucida Sans Unicode"/>
              </a:rPr>
              <a:t> </a:t>
            </a:r>
            <a:r>
              <a:rPr lang="en-IN" sz="1000" dirty="0">
                <a:latin typeface="Lucida Sans Unicode"/>
                <a:cs typeface="Lucida Sans Unicode"/>
              </a:rPr>
              <a:t>procured</a:t>
            </a:r>
            <a:r>
              <a:rPr lang="en-IN" sz="1000" spc="15" dirty="0">
                <a:latin typeface="Lucida Sans Unicode"/>
                <a:cs typeface="Lucida Sans Unicode"/>
              </a:rPr>
              <a:t> </a:t>
            </a:r>
            <a:r>
              <a:rPr lang="en-IN" sz="1000" dirty="0">
                <a:latin typeface="Lucida Sans Unicode"/>
                <a:cs typeface="Lucida Sans Unicode"/>
              </a:rPr>
              <a:t>upon</a:t>
            </a:r>
            <a:r>
              <a:rPr lang="en-IN" sz="1000" spc="15" dirty="0">
                <a:latin typeface="Lucida Sans Unicode"/>
                <a:cs typeface="Lucida Sans Unicode"/>
              </a:rPr>
              <a:t> </a:t>
            </a:r>
            <a:r>
              <a:rPr lang="en-IN" sz="1000" spc="-20" dirty="0">
                <a:latin typeface="Lucida Sans Unicode"/>
                <a:cs typeface="Lucida Sans Unicode"/>
              </a:rPr>
              <a:t>prior</a:t>
            </a:r>
            <a:r>
              <a:rPr lang="en-IN" sz="1000" spc="15" dirty="0">
                <a:latin typeface="Lucida Sans Unicode"/>
                <a:cs typeface="Lucida Sans Unicode"/>
              </a:rPr>
              <a:t> </a:t>
            </a:r>
            <a:r>
              <a:rPr lang="en-IN" sz="1000" dirty="0">
                <a:latin typeface="Lucida Sans Unicode"/>
                <a:cs typeface="Lucida Sans Unicode"/>
              </a:rPr>
              <a:t>approval</a:t>
            </a:r>
            <a:r>
              <a:rPr lang="en-IN" sz="1000" spc="15" dirty="0">
                <a:latin typeface="Lucida Sans Unicode"/>
                <a:cs typeface="Lucida Sans Unicode"/>
              </a:rPr>
              <a:t> </a:t>
            </a:r>
            <a:r>
              <a:rPr lang="en-IN" sz="1000" dirty="0">
                <a:latin typeface="Lucida Sans Unicode"/>
                <a:cs typeface="Lucida Sans Unicode"/>
              </a:rPr>
              <a:t>from</a:t>
            </a:r>
            <a:r>
              <a:rPr lang="en-IN" sz="1000" spc="20" dirty="0">
                <a:latin typeface="Lucida Sans Unicode"/>
                <a:cs typeface="Lucida Sans Unicode"/>
              </a:rPr>
              <a:t> </a:t>
            </a:r>
            <a:r>
              <a:rPr lang="en-IN" sz="1000" dirty="0">
                <a:latin typeface="Lucida Sans Unicode"/>
                <a:cs typeface="Lucida Sans Unicode"/>
              </a:rPr>
              <a:t>the</a:t>
            </a:r>
            <a:r>
              <a:rPr lang="en-IN" sz="1000" spc="15" dirty="0">
                <a:latin typeface="Lucida Sans Unicode"/>
                <a:cs typeface="Lucida Sans Unicode"/>
              </a:rPr>
              <a:t> </a:t>
            </a:r>
            <a:r>
              <a:rPr lang="en-IN" sz="1000" dirty="0">
                <a:latin typeface="Lucida Sans Unicode"/>
                <a:cs typeface="Lucida Sans Unicode"/>
              </a:rPr>
              <a:t>client</a:t>
            </a:r>
            <a:r>
              <a:rPr lang="en-IN" sz="1000" spc="15" dirty="0">
                <a:latin typeface="Lucida Sans Unicode"/>
                <a:cs typeface="Lucida Sans Unicode"/>
              </a:rPr>
              <a:t> </a:t>
            </a:r>
            <a:r>
              <a:rPr lang="en-IN" sz="1000" spc="55" dirty="0">
                <a:latin typeface="Lucida Sans Unicode"/>
                <a:cs typeface="Lucida Sans Unicode"/>
              </a:rPr>
              <a:t>and</a:t>
            </a:r>
            <a:r>
              <a:rPr lang="en-IN" sz="1000" spc="15" dirty="0">
                <a:latin typeface="Lucida Sans Unicode"/>
                <a:cs typeface="Lucida Sans Unicode"/>
              </a:rPr>
              <a:t> </a:t>
            </a:r>
            <a:r>
              <a:rPr lang="en-IN" sz="1000" dirty="0">
                <a:latin typeface="Lucida Sans Unicode"/>
                <a:cs typeface="Lucida Sans Unicode"/>
              </a:rPr>
              <a:t>shall</a:t>
            </a:r>
            <a:r>
              <a:rPr lang="en-IN" sz="1000" spc="15" dirty="0">
                <a:latin typeface="Lucida Sans Unicode"/>
                <a:cs typeface="Lucida Sans Unicode"/>
              </a:rPr>
              <a:t> </a:t>
            </a:r>
            <a:r>
              <a:rPr lang="en-IN" sz="1000" spc="25" dirty="0">
                <a:latin typeface="Lucida Sans Unicode"/>
                <a:cs typeface="Lucida Sans Unicode"/>
              </a:rPr>
              <a:t>be </a:t>
            </a:r>
            <a:r>
              <a:rPr lang="en-IN" sz="1000" spc="10" dirty="0">
                <a:latin typeface="Lucida Sans Unicode"/>
                <a:cs typeface="Lucida Sans Unicode"/>
              </a:rPr>
              <a:t>charged</a:t>
            </a:r>
            <a:r>
              <a:rPr lang="en-IN" sz="1000" spc="20" dirty="0">
                <a:latin typeface="Lucida Sans Unicode"/>
                <a:cs typeface="Lucida Sans Unicode"/>
              </a:rPr>
              <a:t> </a:t>
            </a:r>
            <a:r>
              <a:rPr lang="en-IN" sz="1000" spc="60" dirty="0">
                <a:latin typeface="Lucida Sans Unicode"/>
                <a:cs typeface="Lucida Sans Unicode"/>
              </a:rPr>
              <a:t>as</a:t>
            </a:r>
            <a:r>
              <a:rPr lang="en-IN" sz="1000" spc="20" dirty="0">
                <a:latin typeface="Lucida Sans Unicode"/>
                <a:cs typeface="Lucida Sans Unicode"/>
              </a:rPr>
              <a:t> </a:t>
            </a:r>
            <a:r>
              <a:rPr lang="en-IN" sz="1000" spc="10" dirty="0">
                <a:latin typeface="Lucida Sans Unicode"/>
                <a:cs typeface="Lucida Sans Unicode"/>
              </a:rPr>
              <a:t>actuals,</a:t>
            </a:r>
            <a:r>
              <a:rPr lang="en-IN" sz="1000" spc="25" dirty="0">
                <a:latin typeface="Lucida Sans Unicode"/>
                <a:cs typeface="Lucida Sans Unicode"/>
              </a:rPr>
              <a:t> </a:t>
            </a:r>
            <a:r>
              <a:rPr lang="en-IN" sz="1000" spc="10" dirty="0">
                <a:latin typeface="Lucida Sans Unicode"/>
                <a:cs typeface="Lucida Sans Unicode"/>
              </a:rPr>
              <a:t>over</a:t>
            </a:r>
            <a:r>
              <a:rPr lang="en-IN" sz="1000" spc="20" dirty="0">
                <a:latin typeface="Lucida Sans Unicode"/>
                <a:cs typeface="Lucida Sans Unicode"/>
              </a:rPr>
              <a:t> </a:t>
            </a:r>
            <a:r>
              <a:rPr lang="en-IN" sz="1000" spc="55" dirty="0">
                <a:latin typeface="Lucida Sans Unicode"/>
                <a:cs typeface="Lucida Sans Unicode"/>
              </a:rPr>
              <a:t>and</a:t>
            </a:r>
            <a:r>
              <a:rPr lang="en-IN" sz="1000" spc="20" dirty="0">
                <a:latin typeface="Lucida Sans Unicode"/>
                <a:cs typeface="Lucida Sans Unicode"/>
              </a:rPr>
              <a:t> </a:t>
            </a:r>
            <a:r>
              <a:rPr lang="en-IN" sz="1000" spc="55" dirty="0">
                <a:latin typeface="Lucida Sans Unicode"/>
                <a:cs typeface="Lucida Sans Unicode"/>
              </a:rPr>
              <a:t>above</a:t>
            </a:r>
            <a:r>
              <a:rPr lang="en-IN" sz="1000" spc="25" dirty="0">
                <a:latin typeface="Lucida Sans Unicode"/>
                <a:cs typeface="Lucida Sans Unicode"/>
              </a:rPr>
              <a:t> </a:t>
            </a:r>
            <a:r>
              <a:rPr lang="en-IN" sz="1000" spc="10" dirty="0">
                <a:latin typeface="Lucida Sans Unicode"/>
                <a:cs typeface="Lucida Sans Unicode"/>
              </a:rPr>
              <a:t>the</a:t>
            </a:r>
            <a:r>
              <a:rPr lang="en-IN" sz="1000" spc="20" dirty="0">
                <a:latin typeface="Lucida Sans Unicode"/>
                <a:cs typeface="Lucida Sans Unicode"/>
              </a:rPr>
              <a:t> </a:t>
            </a:r>
            <a:r>
              <a:rPr lang="en-IN" sz="1000" spc="10" dirty="0">
                <a:latin typeface="Lucida Sans Unicode"/>
                <a:cs typeface="Lucida Sans Unicode"/>
              </a:rPr>
              <a:t>agreed</a:t>
            </a:r>
            <a:r>
              <a:rPr lang="en-IN" sz="1000" spc="25" dirty="0">
                <a:latin typeface="Lucida Sans Unicode"/>
                <a:cs typeface="Lucida Sans Unicode"/>
              </a:rPr>
              <a:t> </a:t>
            </a:r>
            <a:r>
              <a:rPr lang="en-IN" sz="1000" spc="-10" dirty="0">
                <a:latin typeface="Lucida Sans Unicode"/>
                <a:cs typeface="Lucida Sans Unicode"/>
              </a:rPr>
              <a:t>fees.</a:t>
            </a:r>
          </a:p>
          <a:p>
            <a:pPr marL="184150" indent="-171450">
              <a:lnSpc>
                <a:spcPct val="100000"/>
              </a:lnSpc>
              <a:spcBef>
                <a:spcPts val="525"/>
              </a:spcBef>
              <a:buFont typeface="Arial" panose="020B0604020202020204" pitchFamily="34" charset="0"/>
              <a:buChar char="•"/>
              <a:tabLst>
                <a:tab pos="239395" algn="l"/>
              </a:tabLst>
            </a:pPr>
            <a:r>
              <a:rPr lang="en-IN" sz="1000" spc="-10" dirty="0">
                <a:latin typeface="Lucida Sans Unicode"/>
                <a:cs typeface="Lucida Sans Unicode"/>
              </a:rPr>
              <a:t>Please refer Annexure A, B1, B2 and C for final deliverables.</a:t>
            </a:r>
          </a:p>
          <a:p>
            <a:pPr marL="184150" indent="-171450">
              <a:lnSpc>
                <a:spcPct val="100000"/>
              </a:lnSpc>
              <a:spcBef>
                <a:spcPts val="525"/>
              </a:spcBef>
              <a:buFont typeface="Arial" panose="020B0604020202020204" pitchFamily="34" charset="0"/>
              <a:buChar char="•"/>
              <a:tabLst>
                <a:tab pos="239395" algn="l"/>
              </a:tabLst>
            </a:pPr>
            <a:r>
              <a:rPr lang="en-IN" sz="1000" spc="-10" dirty="0">
                <a:latin typeface="Lucida Sans Unicode"/>
                <a:cs typeface="Lucida Sans Unicode"/>
              </a:rPr>
              <a:t>All applicable taxes as per GOI will be extra.</a:t>
            </a:r>
            <a:endParaRPr lang="en-IN" sz="1000" dirty="0">
              <a:latin typeface="Lucida Sans Unicode"/>
              <a:cs typeface="Lucida Sans Unicode"/>
            </a:endParaRPr>
          </a:p>
        </p:txBody>
      </p:sp>
      <p:pic>
        <p:nvPicPr>
          <p:cNvPr id="11" name="Google Shape;76;p10">
            <a:extLst>
              <a:ext uri="{FF2B5EF4-FFF2-40B4-BE49-F238E27FC236}">
                <a16:creationId xmlns:a16="http://schemas.microsoft.com/office/drawing/2014/main" id="{FE17BCE9-0EC8-5DD6-39F7-E0C498AD05C3}"/>
              </a:ext>
            </a:extLst>
          </p:cNvPr>
          <p:cNvPicPr preferRelativeResize="0"/>
          <p:nvPr/>
        </p:nvPicPr>
        <p:blipFill rotWithShape="1">
          <a:blip r:embed="rId2">
            <a:alphaModFix/>
          </a:blip>
          <a:srcRect/>
          <a:stretch/>
        </p:blipFill>
        <p:spPr>
          <a:xfrm>
            <a:off x="1771650" y="5307037"/>
            <a:ext cx="171450" cy="171450"/>
          </a:xfrm>
          <a:prstGeom prst="rect">
            <a:avLst/>
          </a:prstGeom>
          <a:noFill/>
          <a:ln>
            <a:noFill/>
          </a:ln>
        </p:spPr>
      </p:pic>
      <p:sp>
        <p:nvSpPr>
          <p:cNvPr id="12" name="Google Shape;67;p10">
            <a:extLst>
              <a:ext uri="{FF2B5EF4-FFF2-40B4-BE49-F238E27FC236}">
                <a16:creationId xmlns:a16="http://schemas.microsoft.com/office/drawing/2014/main" id="{B69D6031-B114-091F-E3F9-80AE55A0C819}"/>
              </a:ext>
            </a:extLst>
          </p:cNvPr>
          <p:cNvSpPr/>
          <p:nvPr/>
        </p:nvSpPr>
        <p:spPr>
          <a:xfrm>
            <a:off x="381000" y="5769433"/>
            <a:ext cx="2804160" cy="2964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Terms and Conditions</a:t>
            </a:r>
            <a:endParaRPr dirty="0"/>
          </a:p>
        </p:txBody>
      </p:sp>
    </p:spTree>
    <p:extLst>
      <p:ext uri="{BB962C8B-B14F-4D97-AF65-F5344CB8AC3E}">
        <p14:creationId xmlns:p14="http://schemas.microsoft.com/office/powerpoint/2010/main" val="22032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3DC1D2F-9B52-D291-1766-6E69B30218F9}"/>
              </a:ext>
            </a:extLst>
          </p:cNvPr>
          <p:cNvGraphicFramePr>
            <a:graphicFrameLocks noGrp="1"/>
          </p:cNvGraphicFramePr>
          <p:nvPr>
            <p:extLst>
              <p:ext uri="{D42A27DB-BD31-4B8C-83A1-F6EECF244321}">
                <p14:modId xmlns:p14="http://schemas.microsoft.com/office/powerpoint/2010/main" val="3356954034"/>
              </p:ext>
            </p:extLst>
          </p:nvPr>
        </p:nvGraphicFramePr>
        <p:xfrm>
          <a:off x="662940" y="2104149"/>
          <a:ext cx="6364392" cy="7506621"/>
        </p:xfrm>
        <a:graphic>
          <a:graphicData uri="http://schemas.openxmlformats.org/drawingml/2006/table">
            <a:tbl>
              <a:tblPr>
                <a:solidFill>
                  <a:srgbClr val="FF0000"/>
                </a:solidFill>
                <a:tableStyleId>{5C22544A-7EE6-4342-B048-85BDC9FD1C3A}</a:tableStyleId>
              </a:tblPr>
              <a:tblGrid>
                <a:gridCol w="737052">
                  <a:extLst>
                    <a:ext uri="{9D8B030D-6E8A-4147-A177-3AD203B41FA5}">
                      <a16:colId xmlns:a16="http://schemas.microsoft.com/office/drawing/2014/main" val="60130144"/>
                    </a:ext>
                  </a:extLst>
                </a:gridCol>
                <a:gridCol w="1180561">
                  <a:extLst>
                    <a:ext uri="{9D8B030D-6E8A-4147-A177-3AD203B41FA5}">
                      <a16:colId xmlns:a16="http://schemas.microsoft.com/office/drawing/2014/main" val="1531815046"/>
                    </a:ext>
                  </a:extLst>
                </a:gridCol>
                <a:gridCol w="1770841">
                  <a:extLst>
                    <a:ext uri="{9D8B030D-6E8A-4147-A177-3AD203B41FA5}">
                      <a16:colId xmlns:a16="http://schemas.microsoft.com/office/drawing/2014/main" val="2644934076"/>
                    </a:ext>
                  </a:extLst>
                </a:gridCol>
                <a:gridCol w="708336">
                  <a:extLst>
                    <a:ext uri="{9D8B030D-6E8A-4147-A177-3AD203B41FA5}">
                      <a16:colId xmlns:a16="http://schemas.microsoft.com/office/drawing/2014/main" val="4184926811"/>
                    </a:ext>
                  </a:extLst>
                </a:gridCol>
                <a:gridCol w="787041">
                  <a:extLst>
                    <a:ext uri="{9D8B030D-6E8A-4147-A177-3AD203B41FA5}">
                      <a16:colId xmlns:a16="http://schemas.microsoft.com/office/drawing/2014/main" val="3814159647"/>
                    </a:ext>
                  </a:extLst>
                </a:gridCol>
                <a:gridCol w="1180561">
                  <a:extLst>
                    <a:ext uri="{9D8B030D-6E8A-4147-A177-3AD203B41FA5}">
                      <a16:colId xmlns:a16="http://schemas.microsoft.com/office/drawing/2014/main" val="3342510911"/>
                    </a:ext>
                  </a:extLst>
                </a:gridCol>
              </a:tblGrid>
              <a:tr h="0">
                <a:tc gridSpan="6">
                  <a:txBody>
                    <a:bodyPr/>
                    <a:lstStyle/>
                    <a:p>
                      <a:pPr algn="l" fontAlgn="b"/>
                      <a:endParaRPr lang="en-IN" sz="7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34024219"/>
                  </a:ext>
                </a:extLst>
              </a:tr>
              <a:tr h="307844">
                <a:tc gridSpan="6">
                  <a:txBody>
                    <a:bodyPr/>
                    <a:lstStyle/>
                    <a:p>
                      <a:pPr algn="ctr" fontAlgn="ctr"/>
                      <a:r>
                        <a:rPr lang="en-IN" sz="100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rPr>
                        <a:t>BRAND AMBASSADOR (KA) — INTEGRATED PLAN  |  LED CATEGORY</a:t>
                      </a:r>
                      <a:endParaRPr lang="en-IN" sz="1000" b="1" i="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486E">
                        <a:alpha val="63922"/>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642358"/>
                  </a:ext>
                </a:extLst>
              </a:tr>
              <a:tr h="135265">
                <a:tc gridSpan="6">
                  <a:txBody>
                    <a:bodyPr/>
                    <a:lstStyle/>
                    <a:p>
                      <a:pPr algn="ctr" fontAlgn="ctr"/>
                      <a:r>
                        <a:rPr lang="en-IN" sz="70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rPr>
                        <a:t>KA Integration across TVC · Digital · PR · Retail · Packaging · Social Media</a:t>
                      </a:r>
                      <a:endParaRPr lang="en-IN" sz="700" b="0" i="1"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486E">
                        <a:alpha val="63922"/>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40661220"/>
                  </a:ext>
                </a:extLst>
              </a:tr>
              <a:tr h="86756">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7974185"/>
                  </a:ext>
                </a:extLst>
              </a:tr>
              <a:tr h="172579">
                <a:tc>
                  <a:txBody>
                    <a:bodyPr/>
                    <a:lstStyle/>
                    <a:p>
                      <a:pPr algn="ctr" fontAlgn="ct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TOUCHPOINT</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DELIVERABLE DETAIL</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PHASE / TIMING</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STATUS</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NOTES</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904615"/>
                  </a:ext>
                </a:extLst>
              </a:tr>
              <a:tr h="195901">
                <a:tc gridSpan="6">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  </a:t>
                      </a: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PR &amp; ANNOUNCEMENT</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9960436"/>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Press Release — KA Signing</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Full PR copy + media distribution strategy</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Pre-launch</a:t>
                      </a:r>
                      <a:endParaRPr lang="en-IN" sz="700" b="1" i="0" u="none" strike="noStrike" dirty="0">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Coordinate with PR agency for wire distribution</a:t>
                      </a:r>
                      <a:endParaRPr lang="en-IN" sz="700" b="0" i="0" u="none" strike="noStrike" dirty="0">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4602254"/>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Media Kit</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Brand story, KA bio, product facts, key visuals (print + digital)</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Pre-launch</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High-res assets for press</a:t>
                      </a:r>
                      <a:endParaRPr lang="en-IN" sz="700" b="0" i="0" u="none" strike="noStrike" dirty="0">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343534"/>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Celebrity Event / Launch Activation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Concept, collaterals, event AV, post-event content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Launch Day</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Execution on actuals; 3D by event agency</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822193"/>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TVC &amp; AUDIO-VISUAL</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76563674"/>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Hero TVC — 60 sec</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Script, storyboard, production brief (with KA)</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Pre-Season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dirty="0">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Main film production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7833070"/>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Cut-downs — 30 / 20 / 10 sec</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Edit suite from hero TVC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Post TVC shoot</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All 3 durations included</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795094"/>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OTT Pre-roll — 4 Variants</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Genre-triggered: Action / Comedy / Sports / Drama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Post TVC shoot</a:t>
                      </a:r>
                      <a:endParaRPr lang="en-IN" sz="700" b="1" i="0" u="none" strike="noStrike" dirty="0">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Platform trafficking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6993448"/>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7</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Radio Spot — 30 sec</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KA VO script + music adaptation</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Pre-Season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Up to 7 vernacular languages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5933437"/>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KEY VISUAL &amp; PRINT</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09367704"/>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8</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 KV — Master</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Full KA + LED product visual in brand language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Pre-Season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Ratios: 16:9, 9:16, 1:1, 4:5</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2596596"/>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9</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Newspaper Full-Page Ad</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Broadsheet ad with KA + LED hero shot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6821909"/>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10</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OOH / Hoarding Design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Outdoor billboard — KA feature</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1589339"/>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11</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Trade Magazine Ad</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 / trade press with KA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7399675"/>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SOCIAL MEDIA &amp; DIGITAL</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54456670"/>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 Content — KA Series</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Reels, static, stories, carousels with KA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Shoot on actuals; 60%+ video mix</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1554648"/>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13</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YouTube Long-form Content</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Unboxing / review / brand story with KA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Production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901475"/>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14</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Paid Social Creatives with KA</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Static / carousel / video — Meta, YT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Ratios per platform specs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6495106"/>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15</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Hashtag &amp; UGC Campaign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KA-seeded UGC concept + tracking</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1267990"/>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INFLUENCER &amp; SEEDING</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18917363"/>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16</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KA Influencer Unboxing Programme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Brief, content review, approval &amp; reporting</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launch</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Influencer fees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550560"/>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17</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Micro / Nano Influencer Seeding</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Secondary seeding plan around KA activity</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Influencer fees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379147"/>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RETAIL &amp; BTL</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9515029"/>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18</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In-Store Demo Zone — KA Theme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KA imagery integrated into demo zone design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Fabrication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8953870"/>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19</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Standees &amp; POSM with KA Visual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KA-featured standees + shelf materials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Print on actuals</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55193"/>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Dealer Kit — KA Edition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Channel partner kit with KA assets + USPs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Campaign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1093518"/>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PACKAGING</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80047224"/>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21</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Special Edition Box (KA)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Limited-edition LED box with KA imagery</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On request</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Separate production estimate</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1840713"/>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22</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Unboxing Insert Card — KA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Personalised insert with KA message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On request</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555712"/>
                  </a:ext>
                </a:extLst>
              </a:tr>
              <a:tr h="195901">
                <a:tc gridSpan="6">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INTERNAL &amp; TRADE</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32847589"/>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23</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Sales Team Pitch Deck — KA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 deck showcasing KA campaign strategy</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Pre-Season</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483691"/>
                  </a:ext>
                </a:extLst>
              </a:tr>
              <a:tr h="195901">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24</a:t>
                      </a:r>
                      <a:endParaRPr lang="en-IN" sz="700" b="1" i="0" u="none" strike="noStrike">
                        <a:solidFill>
                          <a:srgbClr val="E9456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Dealer / Trade Communication</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KA announcement to channel partners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Pre-launch</a:t>
                      </a:r>
                      <a:endParaRPr lang="en-IN" sz="700" b="1" i="0" u="none" strike="noStrike">
                        <a:solidFill>
                          <a:srgbClr val="8E44AD"/>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 Do</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dirty="0">
                        <a:solidFill>
                          <a:srgbClr val="777777"/>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4664" marR="4664" marT="466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5208338"/>
                  </a:ext>
                </a:extLst>
              </a:tr>
            </a:tbl>
          </a:graphicData>
        </a:graphic>
      </p:graphicFrame>
      <p:sp>
        <p:nvSpPr>
          <p:cNvPr id="3" name="Google Shape;67;p10">
            <a:extLst>
              <a:ext uri="{FF2B5EF4-FFF2-40B4-BE49-F238E27FC236}">
                <a16:creationId xmlns:a16="http://schemas.microsoft.com/office/drawing/2014/main" id="{7E5DAC9A-DE0F-855E-F0E4-15CC24A565B5}"/>
              </a:ext>
            </a:extLst>
          </p:cNvPr>
          <p:cNvSpPr/>
          <p:nvPr/>
        </p:nvSpPr>
        <p:spPr>
          <a:xfrm>
            <a:off x="662940" y="1426870"/>
            <a:ext cx="2804160" cy="2964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Annexure A</a:t>
            </a:r>
            <a:endParaRPr dirty="0"/>
          </a:p>
        </p:txBody>
      </p:sp>
    </p:spTree>
    <p:extLst>
      <p:ext uri="{BB962C8B-B14F-4D97-AF65-F5344CB8AC3E}">
        <p14:creationId xmlns:p14="http://schemas.microsoft.com/office/powerpoint/2010/main" val="2216461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7;p10">
            <a:extLst>
              <a:ext uri="{FF2B5EF4-FFF2-40B4-BE49-F238E27FC236}">
                <a16:creationId xmlns:a16="http://schemas.microsoft.com/office/drawing/2014/main" id="{9594CDF9-BE7F-84B3-314A-2D8125AF19F2}"/>
              </a:ext>
            </a:extLst>
          </p:cNvPr>
          <p:cNvSpPr/>
          <p:nvPr/>
        </p:nvSpPr>
        <p:spPr>
          <a:xfrm>
            <a:off x="662940" y="1409936"/>
            <a:ext cx="2804160" cy="2964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Annexure B/1</a:t>
            </a:r>
            <a:endParaRPr dirty="0"/>
          </a:p>
        </p:txBody>
      </p:sp>
      <p:graphicFrame>
        <p:nvGraphicFramePr>
          <p:cNvPr id="5" name="Table 4">
            <a:extLst>
              <a:ext uri="{FF2B5EF4-FFF2-40B4-BE49-F238E27FC236}">
                <a16:creationId xmlns:a16="http://schemas.microsoft.com/office/drawing/2014/main" id="{AC867001-0DAF-E207-8289-AD87B7C3D507}"/>
              </a:ext>
            </a:extLst>
          </p:cNvPr>
          <p:cNvGraphicFramePr>
            <a:graphicFrameLocks noGrp="1"/>
          </p:cNvGraphicFramePr>
          <p:nvPr>
            <p:extLst>
              <p:ext uri="{D42A27DB-BD31-4B8C-83A1-F6EECF244321}">
                <p14:modId xmlns:p14="http://schemas.microsoft.com/office/powerpoint/2010/main" val="1207959055"/>
              </p:ext>
            </p:extLst>
          </p:nvPr>
        </p:nvGraphicFramePr>
        <p:xfrm>
          <a:off x="662940" y="2140166"/>
          <a:ext cx="6364393" cy="7097435"/>
        </p:xfrm>
        <a:graphic>
          <a:graphicData uri="http://schemas.openxmlformats.org/drawingml/2006/table">
            <a:tbl>
              <a:tblPr>
                <a:effectLst/>
                <a:tableStyleId>{5C22544A-7EE6-4342-B048-85BDC9FD1C3A}</a:tableStyleId>
              </a:tblPr>
              <a:tblGrid>
                <a:gridCol w="253447">
                  <a:extLst>
                    <a:ext uri="{9D8B030D-6E8A-4147-A177-3AD203B41FA5}">
                      <a16:colId xmlns:a16="http://schemas.microsoft.com/office/drawing/2014/main" val="836933251"/>
                    </a:ext>
                  </a:extLst>
                </a:gridCol>
                <a:gridCol w="1521402">
                  <a:extLst>
                    <a:ext uri="{9D8B030D-6E8A-4147-A177-3AD203B41FA5}">
                      <a16:colId xmlns:a16="http://schemas.microsoft.com/office/drawing/2014/main" val="339019137"/>
                    </a:ext>
                  </a:extLst>
                </a:gridCol>
                <a:gridCol w="2173433">
                  <a:extLst>
                    <a:ext uri="{9D8B030D-6E8A-4147-A177-3AD203B41FA5}">
                      <a16:colId xmlns:a16="http://schemas.microsoft.com/office/drawing/2014/main" val="3068014924"/>
                    </a:ext>
                  </a:extLst>
                </a:gridCol>
                <a:gridCol w="1086717">
                  <a:extLst>
                    <a:ext uri="{9D8B030D-6E8A-4147-A177-3AD203B41FA5}">
                      <a16:colId xmlns:a16="http://schemas.microsoft.com/office/drawing/2014/main" val="2760021155"/>
                    </a:ext>
                  </a:extLst>
                </a:gridCol>
                <a:gridCol w="1329394">
                  <a:extLst>
                    <a:ext uri="{9D8B030D-6E8A-4147-A177-3AD203B41FA5}">
                      <a16:colId xmlns:a16="http://schemas.microsoft.com/office/drawing/2014/main" val="4125056421"/>
                    </a:ext>
                  </a:extLst>
                </a:gridCol>
              </a:tblGrid>
              <a:tr h="332769">
                <a:tc gridSpan="5">
                  <a:txBody>
                    <a:bodyPr/>
                    <a:lstStyle/>
                    <a:p>
                      <a:pPr algn="ctr" fontAlgn="ctr"/>
                      <a:r>
                        <a:rPr lang="en-IN" sz="100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rPr>
                        <a:t>CREATIVE ATL SCOPE OF WORK  |  LED · FAN · COOLER</a:t>
                      </a:r>
                      <a:endParaRPr lang="en-IN" sz="1000" b="1" i="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95697251"/>
                  </a:ext>
                </a:extLst>
              </a:tr>
              <a:tr h="103158">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6818139"/>
                  </a:ext>
                </a:extLst>
              </a:tr>
              <a:tr h="188569">
                <a:tc>
                  <a:txBody>
                    <a:bodyPr/>
                    <a:lstStyle/>
                    <a:p>
                      <a:pPr algn="ctr" fontAlgn="ct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CATEGORY</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DELIVERABLE / TASK</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QUANTITY / FREQUENCY</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EXCLUSIONS / NOTES</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0633752"/>
                  </a:ext>
                </a:extLst>
              </a:tr>
              <a:tr h="221846">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BRAND LEVEL &amp; CORPORATE CAMPAIGNS</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73435236"/>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Brand Campaign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Corporate 360 campaign — concept, master KV, sub-master styles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Annual</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OOH / Digital / POSM style; 2–3 sub-styles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3260872"/>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Brand Campaign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category campaigns — concept + execution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launch</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Brand track on actuals; third-party costs extra</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9751503"/>
                  </a:ext>
                </a:extLst>
              </a:tr>
              <a:tr h="221846">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3</a:t>
                      </a:r>
                      <a:endParaRPr lang="en-IN" sz="700" b="1" i="0" u="none" strike="noStrike" dirty="0">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Brand Campaign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Main campaign assets: KV, teasers, main film, radio, sustenance idea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360 campaign approach</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Main film production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044895"/>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Brand Campaign</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Vernacular adaptation — main film &amp; radio</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Up to 7 languages</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platform specs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691733"/>
                  </a:ext>
                </a:extLst>
              </a:tr>
              <a:tr h="221846">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SALES PROMO CAMPAIGNS</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08073837"/>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Sales Promo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Monthly sales promo — master + layouts</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50385"/>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Sales Promo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Season / festive campaign — POSM, digital, print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season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54887"/>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7</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Sales Promo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Topical campaign (New Year, Valentine, etc.)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3987145"/>
                  </a:ext>
                </a:extLst>
              </a:tr>
              <a:tr h="221846">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TVC &amp; RADIO</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356474"/>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8</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TVC</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Hero TVC — 60 sec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Annual per category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Production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540483"/>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9</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TVC</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Cut-downs — 30 / 20 / 10 sec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hero film</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Included</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540733"/>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10</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TVC</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OTT pre-roll variants — 4 genre triggers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Action / Comedy / Sports / Drama</a:t>
                      </a:r>
                      <a:endParaRPr lang="en-IN" sz="700" b="0" i="0" u="none" strike="noStrike" dirty="0">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6163035"/>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Radio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Radio spot — 30 sec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Up to 7 vernacular languages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5930581"/>
                  </a:ext>
                </a:extLst>
              </a:tr>
              <a:tr h="221846">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PHOTOGRAPHY</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209317"/>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Hero campaign shoot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2475093"/>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13</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Lifestyle scenario shoot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4899111"/>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Product-only studio shoot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2560072"/>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E-commerce white-background shoot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653359"/>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16</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Behind-the-scenes content shoot</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shoot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Repurposed for social</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134357"/>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17</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360° product shoot (36/72 frames)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online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193288"/>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18</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Photography</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3D modelling &amp; renders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extra</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5673322"/>
                  </a:ext>
                </a:extLst>
              </a:tr>
              <a:tr h="221846">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PACKAGING</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68573892"/>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19</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Packaging</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Master carton design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Print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2725315"/>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Packaging</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Inner box &amp; flap messaging</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707585"/>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Packaging</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Remote control sleeve (LED)</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LED category</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1886631"/>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Packaging</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Manual cover design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Content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5477249"/>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23</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Packaging</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Unboxing insert card</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6187105"/>
                  </a:ext>
                </a:extLst>
              </a:tr>
              <a:tr h="221846">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Packaging</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QR code integration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URL by client</a:t>
                      </a:r>
                      <a:endParaRPr lang="en-IN" sz="700" b="0" i="0" u="none" strike="noStrike" dirty="0">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221228"/>
                  </a:ext>
                </a:extLst>
              </a:tr>
            </a:tbl>
          </a:graphicData>
        </a:graphic>
      </p:graphicFrame>
    </p:spTree>
    <p:extLst>
      <p:ext uri="{BB962C8B-B14F-4D97-AF65-F5344CB8AC3E}">
        <p14:creationId xmlns:p14="http://schemas.microsoft.com/office/powerpoint/2010/main" val="204900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67;p10">
            <a:extLst>
              <a:ext uri="{FF2B5EF4-FFF2-40B4-BE49-F238E27FC236}">
                <a16:creationId xmlns:a16="http://schemas.microsoft.com/office/drawing/2014/main" id="{C634899A-7D06-3BF9-0C8A-8759E5E9898B}"/>
              </a:ext>
            </a:extLst>
          </p:cNvPr>
          <p:cNvSpPr/>
          <p:nvPr/>
        </p:nvSpPr>
        <p:spPr>
          <a:xfrm>
            <a:off x="662940" y="1409936"/>
            <a:ext cx="2804160" cy="2964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Annexure B/2</a:t>
            </a:r>
            <a:endParaRPr dirty="0"/>
          </a:p>
        </p:txBody>
      </p:sp>
      <p:graphicFrame>
        <p:nvGraphicFramePr>
          <p:cNvPr id="13" name="Table 12">
            <a:extLst>
              <a:ext uri="{FF2B5EF4-FFF2-40B4-BE49-F238E27FC236}">
                <a16:creationId xmlns:a16="http://schemas.microsoft.com/office/drawing/2014/main" id="{AC7A3C55-1559-5F41-D282-E94A97EDEFFA}"/>
              </a:ext>
            </a:extLst>
          </p:cNvPr>
          <p:cNvGraphicFramePr>
            <a:graphicFrameLocks noGrp="1"/>
          </p:cNvGraphicFramePr>
          <p:nvPr>
            <p:extLst>
              <p:ext uri="{D42A27DB-BD31-4B8C-83A1-F6EECF244321}">
                <p14:modId xmlns:p14="http://schemas.microsoft.com/office/powerpoint/2010/main" val="172832502"/>
              </p:ext>
            </p:extLst>
          </p:nvPr>
        </p:nvGraphicFramePr>
        <p:xfrm>
          <a:off x="662940" y="1980023"/>
          <a:ext cx="6364395" cy="7362708"/>
        </p:xfrm>
        <a:graphic>
          <a:graphicData uri="http://schemas.openxmlformats.org/drawingml/2006/table">
            <a:tbl>
              <a:tblPr>
                <a:tableStyleId>{5C22544A-7EE6-4342-B048-85BDC9FD1C3A}</a:tableStyleId>
              </a:tblPr>
              <a:tblGrid>
                <a:gridCol w="219463">
                  <a:extLst>
                    <a:ext uri="{9D8B030D-6E8A-4147-A177-3AD203B41FA5}">
                      <a16:colId xmlns:a16="http://schemas.microsoft.com/office/drawing/2014/main" val="1567119460"/>
                    </a:ext>
                  </a:extLst>
                </a:gridCol>
                <a:gridCol w="1536233">
                  <a:extLst>
                    <a:ext uri="{9D8B030D-6E8A-4147-A177-3AD203B41FA5}">
                      <a16:colId xmlns:a16="http://schemas.microsoft.com/office/drawing/2014/main" val="3205169981"/>
                    </a:ext>
                  </a:extLst>
                </a:gridCol>
                <a:gridCol w="2194618">
                  <a:extLst>
                    <a:ext uri="{9D8B030D-6E8A-4147-A177-3AD203B41FA5}">
                      <a16:colId xmlns:a16="http://schemas.microsoft.com/office/drawing/2014/main" val="1760831154"/>
                    </a:ext>
                  </a:extLst>
                </a:gridCol>
                <a:gridCol w="1097310">
                  <a:extLst>
                    <a:ext uri="{9D8B030D-6E8A-4147-A177-3AD203B41FA5}">
                      <a16:colId xmlns:a16="http://schemas.microsoft.com/office/drawing/2014/main" val="1200349321"/>
                    </a:ext>
                  </a:extLst>
                </a:gridCol>
                <a:gridCol w="1316771">
                  <a:extLst>
                    <a:ext uri="{9D8B030D-6E8A-4147-A177-3AD203B41FA5}">
                      <a16:colId xmlns:a16="http://schemas.microsoft.com/office/drawing/2014/main" val="1245198942"/>
                    </a:ext>
                  </a:extLst>
                </a:gridCol>
              </a:tblGrid>
              <a:tr h="155339">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POSM &amp; COLLATERALS</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57007761"/>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Poster — all categories with 3D mock-ups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3402052"/>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26</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Sticker / shelf talker</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9835353"/>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27</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Dangler A4 (double-sided)</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840873"/>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28</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Crowner / table tent cards / wobblers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Sampling/proofs extra</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9591008"/>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29</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Standee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971537"/>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30</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 counter display unit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requirement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1715115"/>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Leaflet / multi-fold brochure</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4520557"/>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In-shop branding / hoarding (multi-ratio)</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requirement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Ratios: 1:1, 1:2, 1:3, 1:4, 2:1, 3:1</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5334469"/>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33</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 newsletter (40+ pages)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Content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2275599"/>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Dealer partner greeting creatives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8–10 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Birthday, anniversary, special events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4317047"/>
                  </a:ext>
                </a:extLst>
              </a:tr>
              <a:tr h="155339">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PRINT &amp; OUTDOOR</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39782669"/>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Print / OOH</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Newspaper full-page ad</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352128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Print / OOH</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OOH / hoarding design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171248"/>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37</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Print / OOH</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Cinema slide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6726616"/>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38</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Print / OOH</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Trade magazine ad</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5395902"/>
                  </a:ext>
                </a:extLst>
              </a:tr>
              <a:tr h="155339">
                <a:tc gridSpan="5">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  RETAIL &amp; BTL</a:t>
                      </a:r>
                      <a:endParaRPr lang="en-IN" sz="700" b="1" i="0" u="none" strike="noStrike">
                        <a:solidFill>
                          <a:srgbClr val="F5A623"/>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4939207"/>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39</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Retail / BTL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In-store demo zone design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requirement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Fabrication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771682"/>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40</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Retail / BTL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Dealer kit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411337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Retail / BTL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Road show / activation concept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activation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Execution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361289"/>
                  </a:ext>
                </a:extLst>
              </a:tr>
              <a:tr h="155339">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B2B — TRADE &amp; CHANNEL</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3877136"/>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leaflets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 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884036"/>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43</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brochure (4 pages)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 per 6 months</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2463826"/>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Poster A3</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 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9271837"/>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 standee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 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503312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46</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Stock AV — animation, script, music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 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extra</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7738857"/>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47</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Website banners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 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3190791"/>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48</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EDM (electronic direct mailer)</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 monthly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9705254"/>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49</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B2B</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Wish posts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 annually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989403"/>
                  </a:ext>
                </a:extLst>
              </a:tr>
              <a:tr h="155339">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PR, INFLUENCER &amp; EXPERIENTIAL</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9102136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50</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 / Influencer</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Press release — ambassador signing &amp; launches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event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4271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 / Influencer</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kit design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Annual</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2387464"/>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 / Influencer</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Influencer unboxing programme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Influencer fees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642271"/>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53</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 / Influencer</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Celebrity event / launch activation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Per event</a:t>
                      </a:r>
                      <a:endParaRPr lang="en-IN" sz="700" b="1" i="0" u="none" strike="noStrike" dirty="0">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Execution on actuals</a:t>
                      </a:r>
                      <a:endParaRPr lang="en-IN" sz="700" b="0" i="0" u="none" strike="noStrike" dirty="0">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0391282"/>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Experiential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Event rendition, design, creative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event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3D by event agency</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418473"/>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Experiential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Event AV</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event</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Execution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275585"/>
                  </a:ext>
                </a:extLst>
              </a:tr>
              <a:tr h="155339">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INTERNAL &amp; VALUE-ADD</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0445167"/>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56</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Sales team pitch deck</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season</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9851399"/>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57</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catalogue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Bi-annual</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07505"/>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58</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Warranty card &amp; after-sales comms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SKU</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0499088"/>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59</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Competitor analysis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6164703"/>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60</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Copywriting — news / magazine articles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422495"/>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61</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Innovative brand/category ideas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458245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62</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Support on important presentations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1899130"/>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63</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Award entries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extra</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5145483"/>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64</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Collaboration / sponsorship ideas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857526"/>
                  </a:ext>
                </a:extLst>
              </a:tr>
              <a:tr h="155339">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65</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Stock / image library subscription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Annual</a:t>
                      </a:r>
                      <a:endParaRPr lang="en-IN" sz="700" b="1" i="0" u="none" strike="noStrike">
                        <a:solidFill>
                          <a:srgbClr val="E67E2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Charged extra</a:t>
                      </a:r>
                      <a:endParaRPr lang="en-IN" sz="700" b="0" i="0" u="none" strike="noStrike" dirty="0">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754" marR="3754" marT="375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7465625"/>
                  </a:ext>
                </a:extLst>
              </a:tr>
            </a:tbl>
          </a:graphicData>
        </a:graphic>
      </p:graphicFrame>
    </p:spTree>
    <p:extLst>
      <p:ext uri="{BB962C8B-B14F-4D97-AF65-F5344CB8AC3E}">
        <p14:creationId xmlns:p14="http://schemas.microsoft.com/office/powerpoint/2010/main" val="3162514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7;p10">
            <a:extLst>
              <a:ext uri="{FF2B5EF4-FFF2-40B4-BE49-F238E27FC236}">
                <a16:creationId xmlns:a16="http://schemas.microsoft.com/office/drawing/2014/main" id="{7EC01ACB-B57F-B15F-72D9-EC80841FA0E5}"/>
              </a:ext>
            </a:extLst>
          </p:cNvPr>
          <p:cNvSpPr/>
          <p:nvPr/>
        </p:nvSpPr>
        <p:spPr>
          <a:xfrm>
            <a:off x="662940" y="1409936"/>
            <a:ext cx="2804160" cy="2964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Helvetica Neue"/>
                <a:ea typeface="Helvetica Neue"/>
                <a:cs typeface="Helvetica Neue"/>
                <a:sym typeface="Helvetica Neue"/>
              </a:rPr>
              <a:t>Annexure C</a:t>
            </a:r>
            <a:endParaRPr dirty="0"/>
          </a:p>
        </p:txBody>
      </p:sp>
      <p:graphicFrame>
        <p:nvGraphicFramePr>
          <p:cNvPr id="4" name="Table 3">
            <a:extLst>
              <a:ext uri="{FF2B5EF4-FFF2-40B4-BE49-F238E27FC236}">
                <a16:creationId xmlns:a16="http://schemas.microsoft.com/office/drawing/2014/main" id="{A6C49AA3-0BCB-B310-15E0-ABB7651B7CB7}"/>
              </a:ext>
            </a:extLst>
          </p:cNvPr>
          <p:cNvGraphicFramePr>
            <a:graphicFrameLocks noGrp="1"/>
          </p:cNvGraphicFramePr>
          <p:nvPr>
            <p:extLst>
              <p:ext uri="{D42A27DB-BD31-4B8C-83A1-F6EECF244321}">
                <p14:modId xmlns:p14="http://schemas.microsoft.com/office/powerpoint/2010/main" val="2305579865"/>
              </p:ext>
            </p:extLst>
          </p:nvPr>
        </p:nvGraphicFramePr>
        <p:xfrm>
          <a:off x="662940" y="2011419"/>
          <a:ext cx="6364393" cy="7790475"/>
        </p:xfrm>
        <a:graphic>
          <a:graphicData uri="http://schemas.openxmlformats.org/drawingml/2006/table">
            <a:tbl>
              <a:tblPr>
                <a:tableStyleId>{5C22544A-7EE6-4342-B048-85BDC9FD1C3A}</a:tableStyleId>
              </a:tblPr>
              <a:tblGrid>
                <a:gridCol w="183472">
                  <a:extLst>
                    <a:ext uri="{9D8B030D-6E8A-4147-A177-3AD203B41FA5}">
                      <a16:colId xmlns:a16="http://schemas.microsoft.com/office/drawing/2014/main" val="2537173698"/>
                    </a:ext>
                  </a:extLst>
                </a:gridCol>
                <a:gridCol w="1284303">
                  <a:extLst>
                    <a:ext uri="{9D8B030D-6E8A-4147-A177-3AD203B41FA5}">
                      <a16:colId xmlns:a16="http://schemas.microsoft.com/office/drawing/2014/main" val="3578929535"/>
                    </a:ext>
                  </a:extLst>
                </a:gridCol>
                <a:gridCol w="1834717">
                  <a:extLst>
                    <a:ext uri="{9D8B030D-6E8A-4147-A177-3AD203B41FA5}">
                      <a16:colId xmlns:a16="http://schemas.microsoft.com/office/drawing/2014/main" val="563258018"/>
                    </a:ext>
                  </a:extLst>
                </a:gridCol>
                <a:gridCol w="917359">
                  <a:extLst>
                    <a:ext uri="{9D8B030D-6E8A-4147-A177-3AD203B41FA5}">
                      <a16:colId xmlns:a16="http://schemas.microsoft.com/office/drawing/2014/main" val="230771705"/>
                    </a:ext>
                  </a:extLst>
                </a:gridCol>
                <a:gridCol w="2144542">
                  <a:extLst>
                    <a:ext uri="{9D8B030D-6E8A-4147-A177-3AD203B41FA5}">
                      <a16:colId xmlns:a16="http://schemas.microsoft.com/office/drawing/2014/main" val="3838770273"/>
                    </a:ext>
                  </a:extLst>
                </a:gridCol>
              </a:tblGrid>
              <a:tr h="200455">
                <a:tc gridSpan="5">
                  <a:txBody>
                    <a:bodyPr/>
                    <a:lstStyle/>
                    <a:p>
                      <a:pPr algn="ctr" fontAlgn="ctr"/>
                      <a:r>
                        <a:rPr lang="en-IN" sz="100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rPr>
                        <a:t>DIGITAL SCOPE OF WORK  |  ALL CATEGORIES</a:t>
                      </a:r>
                      <a:endParaRPr lang="en-IN" sz="1000" b="1" i="0" u="none" strike="noStrike" dirty="0">
                        <a:solidFill>
                          <a:schemeClr val="bg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51538157"/>
                  </a:ext>
                </a:extLst>
              </a:tr>
              <a:tr h="62141">
                <a:tc>
                  <a:txBody>
                    <a:bodyPr/>
                    <a:lstStyle/>
                    <a:p>
                      <a:pPr algn="l" fontAlgn="b"/>
                      <a:endParaRPr lang="en-IN" sz="7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1"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1"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1"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700" b="1"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6567819"/>
                  </a:ext>
                </a:extLst>
              </a:tr>
              <a:tr h="113591">
                <a:tc>
                  <a:txBody>
                    <a:bodyPr/>
                    <a:lstStyle/>
                    <a:p>
                      <a:pPr algn="ctr" fontAlgn="ct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CATEGORY</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DELIVERABLE / TASK</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QUANTITY / FREQUENCY</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b="1" u="none" strike="noStrike" dirty="0">
                          <a:effectLst/>
                          <a:latin typeface="Helvetica Neue" panose="02000503000000020004" pitchFamily="2" charset="0"/>
                          <a:ea typeface="Helvetica Neue" panose="02000503000000020004" pitchFamily="2" charset="0"/>
                          <a:cs typeface="Helvetica Neue" panose="02000503000000020004" pitchFamily="2" charset="0"/>
                        </a:rPr>
                        <a:t>EXCLUSIONS / NOTES</a:t>
                      </a:r>
                      <a:endParaRPr lang="en-IN" sz="700" b="1"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008866"/>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SOCIAL MEDIA — CONTENT &amp; MANAGEMENT</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237945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Static posts with copies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20–30 per month</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All product categories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532363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dirty="0">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Video / Reel / YT Shorts with copies</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20–30 per month</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Production-led video &amp; shoot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3418022"/>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Story adaptations (engagement, offers, brand)</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20–30 per month</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2061851"/>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Content calendar — monthly</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Shared 7 days in advance</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5313248"/>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Platform strategy (IG, YT, Twitter-X, FB)</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Annual</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496761"/>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6</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Reels series concept</a:t>
                      </a:r>
                      <a:endParaRPr lang="en-IN" sz="700" b="0" i="0" u="none" strike="noStrike" dirty="0">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848243"/>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7</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YouTube long-form series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Production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737184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8</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Hashtag &amp; UGC campaign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900725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9</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Topical production-led content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 per quarter</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Production charged separately</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3858248"/>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10</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Handle health management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Ongoing</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8582475"/>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11</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Influencer seeding plan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Influencer fees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150519"/>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Social Media</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 + quarterly reports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Monthly / Quarterly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Reporting tool license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078654"/>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MEDIA CAMPAIGN CREATIVES</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59832557"/>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13</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All media adaptations (Google, PMAX, YT, Meta)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 campaigns/qtr</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Adaptation from Intex team</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4877529"/>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14</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Rich media banners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10 per campaign</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145002"/>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15</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Master banners (3) + 60 adaptations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 masters + 60 adapts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856107"/>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16</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Discovery Ads with video</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 adapts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1809634"/>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17</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Facebook carousels (3 masters)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 masters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810719"/>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18</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HTML banner + 20 adapts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 master + 20 adapts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330004"/>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19</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Media Creative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Text ad copies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9509016"/>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ONE-TO-ONE / CRM COMMUNICATION</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69197995"/>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CRM / One-to-One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WhatsApp broadcast creatives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30–40 annually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Stock license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7768582"/>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21</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CRM / One-to-One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Email marketing templates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12–15 annually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404554"/>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22</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CRM / One-to-One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Office internal creative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20–24 annually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670912"/>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23</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CRM / One-to-One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SMS copies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042173"/>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D2C &amp; E-COMMERCE CONTENT</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98770194"/>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24</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 listing infographics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7–12 per SKU</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833047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25</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 content basic (creative + text)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15 SKUs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355015"/>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26</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 content premium</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On request</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Stock/AI license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281958"/>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27</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Merchant center update — Google &amp; Meta</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All SKUs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73708"/>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28</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Brand store tile creatives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12–15 tiles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4837863"/>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29</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Amazon / Flipkart banner creatives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609830"/>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30</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e-Promoter video</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2–4 per category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Production charged separately</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8873794"/>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31</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SBV video assets (15 &amp; 30 sec)</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2–3 per category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Charged separately</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57089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32</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360° product shoot frames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 / 72 frames per SKU</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Shoot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57503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33</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D2C / E-com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Display advertising banner assets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5 per campaign</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277763"/>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WEBSITE (D2C &amp; CORPORATE)</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00828995"/>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34</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Website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Website banners (homepage, product, corporate)</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All products</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Adaptation from Intex team</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003186"/>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35</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Website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Landing pages — product / campaign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Per campaign</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HTML development on actuals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168947"/>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36</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Website</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Website copy — new writing + optimization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As required</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All categories</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2428911"/>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SEO / GEO &amp; ORM</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46682589"/>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37</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SEO/GEO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Technical SEO — metadata, schema, sitemaps, redirects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Ongoing</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With Japan tech team; AI license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5665883"/>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38</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SEO/GEO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On-page SEO — FAQs, blogs, UI alignment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2 blogs + FAQs per qtr</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6691694"/>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39</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SEO/GEO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Off-page — guest articles, forums, backlinks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10–15 articles per qtr</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Backlinks TBD</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600631"/>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40</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SEO/GEO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 SEO/GEO audit</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Quarterly</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2962067"/>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41</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ORM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Sprinklr management — comments, response, escalation</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Ongoing</a:t>
                      </a:r>
                      <a:endParaRPr lang="en-IN" sz="700" b="1" i="0" u="none" strike="noStrike" dirty="0">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Tool license by client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3051119"/>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42</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ORM</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Weekly &amp; monthly ORM reports</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Monthly</a:t>
                      </a:r>
                      <a:endParaRPr lang="en-IN" sz="700" b="1" i="0" u="none" strike="noStrike" dirty="0">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a:t>
                      </a:r>
                      <a:endParaRPr lang="en-IN" sz="700" b="0" i="0" u="none" strike="noStrike">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784487"/>
                  </a:ext>
                </a:extLst>
              </a:tr>
              <a:tr h="133637">
                <a:tc gridSpan="5">
                  <a:txBody>
                    <a:bodyPr/>
                    <a:lstStyle/>
                    <a:p>
                      <a:pPr algn="l" fontAlgn="ctr"/>
                      <a:r>
                        <a:rPr lang="en-IN" sz="70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rPr>
                        <a:t>  INTERNAL COMMUNICATION VIDEO</a:t>
                      </a:r>
                      <a:endParaRPr lang="en-IN" sz="700" b="1" i="0" u="none" strike="noStrike" dirty="0">
                        <a:solidFill>
                          <a:srgbClr val="FF474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56423813"/>
                  </a:ext>
                </a:extLst>
              </a:tr>
              <a:tr h="133637">
                <a:tc>
                  <a:txBody>
                    <a:bodyPr/>
                    <a:lstStyle/>
                    <a:p>
                      <a:pPr algn="ctr"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43</a:t>
                      </a:r>
                      <a:endParaRPr lang="en-IN" sz="700" b="1" i="0" u="none" strike="noStrike">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Internal Video</a:t>
                      </a:r>
                      <a:endParaRPr lang="en-IN" sz="700" b="1" i="0" u="none" strike="noStrike">
                        <a:solidFill>
                          <a:srgbClr val="1A1A2E"/>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a:effectLst/>
                          <a:latin typeface="Helvetica Neue" panose="02000503000000020004" pitchFamily="2" charset="0"/>
                          <a:ea typeface="Helvetica Neue" panose="02000503000000020004" pitchFamily="2" charset="0"/>
                          <a:cs typeface="Helvetica Neue" panose="02000503000000020004" pitchFamily="2" charset="0"/>
                        </a:rPr>
                        <a:t>Non-shoot video up to 2 mins (stock/AI/internal)</a:t>
                      </a:r>
                      <a:endParaRPr lang="en-IN" sz="700" b="0" i="0" u="none" strike="noStrike">
                        <a:solidFill>
                          <a:srgbClr val="444444"/>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2-3 annually</a:t>
                      </a:r>
                      <a:endParaRPr lang="en-IN" sz="700" b="1" i="0" u="none" strike="noStrike" dirty="0">
                        <a:solidFill>
                          <a:srgbClr val="2980B9"/>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7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Stock/AI license by client; shoot on actuals</a:t>
                      </a:r>
                      <a:endParaRPr lang="en-IN" sz="700" b="0" i="0" u="none" strike="noStrike" dirty="0">
                        <a:solidFill>
                          <a:srgbClr val="888888"/>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3341" marR="3341" marT="33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291488"/>
                  </a:ext>
                </a:extLst>
              </a:tr>
            </a:tbl>
          </a:graphicData>
        </a:graphic>
      </p:graphicFrame>
    </p:spTree>
    <p:extLst>
      <p:ext uri="{BB962C8B-B14F-4D97-AF65-F5344CB8AC3E}">
        <p14:creationId xmlns:p14="http://schemas.microsoft.com/office/powerpoint/2010/main" val="1869048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7569200" cy="10693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7e60a74-fb01-4d8a-b88b-d4e091b2673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345542D48FCA49835607493FC2D069" ma:contentTypeVersion="10" ma:contentTypeDescription="Create a new document." ma:contentTypeScope="" ma:versionID="f123fa0ac97173e95c318bc719c4a1e9">
  <xsd:schema xmlns:xsd="http://www.w3.org/2001/XMLSchema" xmlns:xs="http://www.w3.org/2001/XMLSchema" xmlns:p="http://schemas.microsoft.com/office/2006/metadata/properties" xmlns:ns3="97e60a74-fb01-4d8a-b88b-d4e091b2673b" xmlns:ns4="b031a9df-5971-4f9a-b262-fbd683001bee" targetNamespace="http://schemas.microsoft.com/office/2006/metadata/properties" ma:root="true" ma:fieldsID="400ac607315e5acd9e07832778525414" ns3:_="" ns4:_="">
    <xsd:import namespace="97e60a74-fb01-4d8a-b88b-d4e091b2673b"/>
    <xsd:import namespace="b031a9df-5971-4f9a-b262-fbd683001be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4:SharedWithUsers" minOccurs="0"/>
                <xsd:element ref="ns4:SharedWithDetails" minOccurs="0"/>
                <xsd:element ref="ns4:SharingHintHash" minOccurs="0"/>
                <xsd:element ref="ns3:_activity" minOccurs="0"/>
                <xsd:element ref="ns3:MediaServiceDateTake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e60a74-fb01-4d8a-b88b-d4e091b267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31a9df-5971-4f9a-b262-fbd683001be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8C6031-DA9E-4A59-9CBC-67457017BF3E}">
  <ds:schemaRefs>
    <ds:schemaRef ds:uri="97e60a74-fb01-4d8a-b88b-d4e091b2673b"/>
    <ds:schemaRef ds:uri="b031a9df-5971-4f9a-b262-fbd683001be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CF69ED6-9218-48A0-94E2-81AF98AC5760}">
  <ds:schemaRefs>
    <ds:schemaRef ds:uri="http://schemas.microsoft.com/sharepoint/v3/contenttype/forms"/>
  </ds:schemaRefs>
</ds:datastoreItem>
</file>

<file path=customXml/itemProps3.xml><?xml version="1.0" encoding="utf-8"?>
<ds:datastoreItem xmlns:ds="http://schemas.openxmlformats.org/officeDocument/2006/customXml" ds:itemID="{2A90F5FB-CDD1-41E5-93A3-C1FAFE61A862}">
  <ds:schemaRefs>
    <ds:schemaRef ds:uri="97e60a74-fb01-4d8a-b88b-d4e091b2673b"/>
    <ds:schemaRef ds:uri="b031a9df-5971-4f9a-b262-fbd683001be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66</TotalTime>
  <Words>3622</Words>
  <Application>Microsoft Office PowerPoint</Application>
  <PresentationFormat>Custom</PresentationFormat>
  <Paragraphs>957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Helvetica Neue</vt:lpstr>
      <vt:lpstr>Lucida Sans Unicode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 Intex Technologies</dc:title>
  <dc:creator>Anoop Dixit</dc:creator>
  <cp:lastModifiedBy>Anoop Dixit</cp:lastModifiedBy>
  <cp:revision>57</cp:revision>
  <dcterms:created xsi:type="dcterms:W3CDTF">2026-05-04T15:37:42Z</dcterms:created>
  <dcterms:modified xsi:type="dcterms:W3CDTF">2026-05-05T11:59:40Z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2026-05-04T00:00:00Z</vt:filetime>
  </property>
  <property fmtid="{D5CDD505-2E9C-101B-9397-08002B2CF9AE}" pid="3" name="Producer">
    <vt:lpwstr>Skia/PDF m149 Google Docs Renderer</vt:lpwstr>
  </property>
  <property fmtid="{D5CDD505-2E9C-101B-9397-08002B2CF9AE}" pid="4" name="LastSaved">
    <vt:filetime>2026-05-04T00:00:00Z</vt:filetime>
  </property>
  <property fmtid="{D5CDD505-2E9C-101B-9397-08002B2CF9AE}" pid="5" name="ContentTypeId">
    <vt:lpwstr>0x010100CF345542D48FCA49835607493FC2D069</vt:lpwstr>
  </property>
</Properties>
</file>